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5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6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7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20"/>
  </p:notesMasterIdLst>
  <p:handoutMasterIdLst>
    <p:handoutMasterId r:id="rId21"/>
  </p:handoutMasterIdLst>
  <p:sldIdLst>
    <p:sldId id="278" r:id="rId3"/>
    <p:sldId id="258" r:id="rId4"/>
    <p:sldId id="259" r:id="rId5"/>
    <p:sldId id="260" r:id="rId6"/>
    <p:sldId id="275" r:id="rId7"/>
    <p:sldId id="277" r:id="rId8"/>
    <p:sldId id="263" r:id="rId9"/>
    <p:sldId id="264" r:id="rId10"/>
    <p:sldId id="272" r:id="rId11"/>
    <p:sldId id="266" r:id="rId12"/>
    <p:sldId id="267" r:id="rId13"/>
    <p:sldId id="268" r:id="rId14"/>
    <p:sldId id="269" r:id="rId15"/>
    <p:sldId id="274" r:id="rId16"/>
    <p:sldId id="273" r:id="rId17"/>
    <p:sldId id="270" r:id="rId18"/>
    <p:sldId id="271" r:id="rId1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3" autoAdjust="0"/>
    <p:restoredTop sz="93581" autoAdjust="0"/>
  </p:normalViewPr>
  <p:slideViewPr>
    <p:cSldViewPr snapToGrid="0" showGuides="1">
      <p:cViewPr varScale="1">
        <p:scale>
          <a:sx n="47" d="100"/>
          <a:sy n="47" d="100"/>
        </p:scale>
        <p:origin x="18" y="753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6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68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990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400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412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539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646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slideLayout" Target="../slideLayouts/slideLayout17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../media/image1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Layout" Target="../slideLayouts/slideLayout17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44.xml"/><Relationship Id="rId7" Type="http://schemas.openxmlformats.org/officeDocument/2006/relationships/slideLayout" Target="../slideLayouts/slideLayout17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6.png"/><Relationship Id="rId5" Type="http://schemas.openxmlformats.org/officeDocument/2006/relationships/tags" Target="../tags/tag52.xml"/><Relationship Id="rId10" Type="http://schemas.openxmlformats.org/officeDocument/2006/relationships/image" Target="../media/image5.png"/><Relationship Id="rId4" Type="http://schemas.openxmlformats.org/officeDocument/2006/relationships/tags" Target="../tags/tag51.xml"/><Relationship Id="rId9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7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5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1.png"/><Relationship Id="rId4" Type="http://schemas.openxmlformats.org/officeDocument/2006/relationships/tags" Target="../tags/tag62.xml"/><Relationship Id="rId9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8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9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1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slideLayout" Target="../slideLayouts/slideLayout17.xml"/><Relationship Id="rId5" Type="http://schemas.openxmlformats.org/officeDocument/2006/relationships/tags" Target="../tags/tag7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187D33-D5A7-DAB3-2850-822A3EC62E7A}"/>
              </a:ext>
            </a:extLst>
          </p:cNvPr>
          <p:cNvSpPr/>
          <p:nvPr/>
        </p:nvSpPr>
        <p:spPr>
          <a:xfrm>
            <a:off x="767009" y="1932755"/>
            <a:ext cx="10803124" cy="228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4200" b="1" dirty="0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基于QUIC协议的即时消息中间件设计与实现</a:t>
            </a:r>
            <a:endParaRPr lang="en-US" sz="4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CE5DF2A-1E85-436E-C104-F2C9DB34056B}"/>
              </a:ext>
            </a:extLst>
          </p:cNvPr>
          <p:cNvSpPr/>
          <p:nvPr/>
        </p:nvSpPr>
        <p:spPr>
          <a:xfrm>
            <a:off x="694438" y="4776646"/>
            <a:ext cx="10803124" cy="1698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汇报人：</a:t>
            </a:r>
            <a:r>
              <a:rPr lang="zh-CN" alt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魏春乐</a:t>
            </a:r>
            <a:endParaRPr lang="en-US" sz="2200" dirty="0">
              <a:latin typeface="宋体" panose="02010600030101010101" pitchFamily="2" charset="-122"/>
              <a:ea typeface="宋体" panose="02010600030101010101" pitchFamily="2" charset="-122"/>
              <a:cs typeface="Roboto" panose="02000000000000000000" pitchFamily="2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学号：2022302111018</a:t>
            </a:r>
            <a:endParaRPr lang="en-US" sz="2200" dirty="0">
              <a:latin typeface="宋体" panose="02010600030101010101" pitchFamily="2" charset="-122"/>
              <a:ea typeface="宋体" panose="02010600030101010101" pitchFamily="2" charset="-122"/>
              <a:cs typeface="Roboto" panose="02000000000000000000" pitchFamily="2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指导老师：</a:t>
            </a:r>
            <a:r>
              <a:rPr lang="zh-CN" alt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傅佑铭 讲师</a:t>
            </a:r>
            <a:endParaRPr lang="en-US" sz="2200" dirty="0">
              <a:latin typeface="宋体" panose="02010600030101010101" pitchFamily="2" charset="-122"/>
              <a:ea typeface="宋体" panose="02010600030101010101" pitchFamily="2" charset="-122"/>
              <a:cs typeface="Roboto" panose="02000000000000000000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A66408B-1CE0-42DE-C07F-FBD61BCC2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" y="59939"/>
            <a:ext cx="1893344" cy="606605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5B7FF010-9A48-BB45-5A61-6ECE06373764}"/>
              </a:ext>
            </a:extLst>
          </p:cNvPr>
          <p:cNvSpPr/>
          <p:nvPr/>
        </p:nvSpPr>
        <p:spPr>
          <a:xfrm>
            <a:off x="767009" y="3077669"/>
            <a:ext cx="10803124" cy="1698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2200" dirty="0">
              <a:latin typeface="宋体" panose="02010600030101010101" pitchFamily="2" charset="-122"/>
              <a:ea typeface="宋体" panose="02010600030101010101" pitchFamily="2" charset="-122"/>
              <a:cs typeface="Roboto" panose="02000000000000000000" pitchFamily="2" charset="0"/>
            </a:endParaRPr>
          </a:p>
        </p:txBody>
      </p:sp>
      <p:sp>
        <p:nvSpPr>
          <p:cNvPr id="6" name="Text 0">
            <a:extLst>
              <a:ext uri="{FF2B5EF4-FFF2-40B4-BE49-F238E27FC236}">
                <a16:creationId xmlns:a16="http://schemas.microsoft.com/office/drawing/2014/main" id="{2B5A5BE5-C09A-0A46-ECB2-2BB0CCE2DF15}"/>
              </a:ext>
            </a:extLst>
          </p:cNvPr>
          <p:cNvSpPr/>
          <p:nvPr/>
        </p:nvSpPr>
        <p:spPr>
          <a:xfrm>
            <a:off x="4090780" y="3354701"/>
            <a:ext cx="10803124" cy="228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altLang="zh-CN" sz="3600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——</a:t>
            </a:r>
            <a:r>
              <a:rPr lang="zh-CN" altLang="en-US" sz="3600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本科毕业设计答辩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2435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61943" y="803967"/>
            <a:ext cx="11430000" cy="4575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目录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34663" y="1876443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447648" y="1938471"/>
            <a:ext cx="2667067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100" b="1">
                <a:latin typeface="SimSun" panose="02010600030101010101" charset="-122"/>
                <a:ea typeface="SimSun" panose="02010600030101010101" charset="-122"/>
              </a:rPr>
              <a:t>研究背景与问题定义</a:t>
            </a: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076576" y="1976971"/>
            <a:ext cx="1257109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第一、二章</a:t>
            </a: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34663" y="2625976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2</a:t>
            </a: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447648" y="2654675"/>
            <a:ext cx="2400338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100" b="1">
                <a:latin typeface="SimSun" panose="02010600030101010101" charset="-122"/>
                <a:ea typeface="SimSun" panose="02010600030101010101" charset="-122"/>
              </a:rPr>
              <a:t>系统设计</a:t>
            </a: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3809857" y="2693175"/>
            <a:ext cx="838133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第四章</a:t>
            </a: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934663" y="3342180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3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447648" y="3370878"/>
            <a:ext cx="2667067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100" b="1">
                <a:latin typeface="SimSun" panose="02010600030101010101" charset="-122"/>
                <a:ea typeface="SimSun" panose="02010600030101010101" charset="-122"/>
              </a:rPr>
              <a:t>核心机制实现</a:t>
            </a: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4076576" y="3409378"/>
            <a:ext cx="838133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第五章</a:t>
            </a: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934663" y="4058374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4</a:t>
            </a: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1447648" y="4087073"/>
            <a:ext cx="2667067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2100" b="1">
                <a:latin typeface="SimSun" panose="02010600030101010101" charset="-122"/>
                <a:ea typeface="SimSun" panose="02010600030101010101" charset="-122"/>
              </a:rPr>
              <a:t>系统</a:t>
            </a:r>
            <a:r>
              <a:rPr sz="2100" b="1">
                <a:latin typeface="SimSun" panose="02010600030101010101" charset="-122"/>
                <a:ea typeface="SimSun" panose="02010600030101010101" charset="-122"/>
              </a:rPr>
              <a:t>测试</a:t>
            </a: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4076576" y="4125573"/>
            <a:ext cx="838133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第六章</a:t>
            </a: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934663" y="4774578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5</a:t>
            </a: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1447648" y="4803277"/>
            <a:ext cx="2133619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100" b="1">
                <a:latin typeface="SimSun" panose="02010600030101010101" charset="-122"/>
                <a:ea typeface="SimSun" panose="02010600030101010101" charset="-122"/>
              </a:rPr>
              <a:t>总结与未来展望</a:t>
            </a: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3543129" y="4841777"/>
            <a:ext cx="838133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第七章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61215B4-28A9-1289-C13F-BFCE9005C7A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884555"/>
          </a:xfrm>
          <a:custGeom>
            <a:avLst/>
            <a:gdLst>
              <a:gd name="sw" fmla="*/ 1 w 19199"/>
              <a:gd name="sh" fmla="*/ 1 h 1393"/>
              <a:gd name="mins" fmla="min sw sh"/>
              <a:gd name="dsw" fmla="+- 0 sw mins"/>
              <a:gd name="dsh" fmla="+- 0 sh mins"/>
              <a:gd name="p0a0dx" fmla="*/ dsw 19199 1"/>
              <a:gd name="p0a0dy" fmla="*/ dsh 0 1"/>
              <a:gd name="p0a1dx" fmla="*/ dsw 19199 1"/>
              <a:gd name="p0a1dy" fmla="*/ dsh 1393 1"/>
              <a:gd name="p0a2dx" fmla="*/ dsw 0 1"/>
              <a:gd name="p0a2dy" fmla="*/ dsh 1393 1"/>
              <a:gd name="p0a3dx" fmla="*/ dsw 0 1"/>
              <a:gd name="p0a3dy" fmla="*/ dsh 0 1"/>
              <a:gd name="p0x0s" fmla="*/ 0 mins 1"/>
              <a:gd name="p0x0" fmla="+- p0x0s p0a3dx 0"/>
              <a:gd name="p0y0s" fmla="*/ 0 mins 1"/>
              <a:gd name="p0y0" fmla="+- p0y0s p0a3dy 0"/>
              <a:gd name="p0x1s" fmla="*/ 19199 mins 1"/>
              <a:gd name="p0x1" fmla="+- p0x1s p0a0dx 0"/>
              <a:gd name="p0y1s" fmla="*/ 0 mins 1"/>
              <a:gd name="p0y1" fmla="+- p0y1s p0a0dy 0"/>
              <a:gd name="p0x2s" fmla="*/ 19199 mins 1"/>
              <a:gd name="p0x2" fmla="+- p0x2s p0a1dx 0"/>
              <a:gd name="p0y2s" fmla="*/ 1393 mins 1"/>
              <a:gd name="p0y2" fmla="+- p0y2s p0a1dy 0"/>
              <a:gd name="p0x3s" fmla="*/ 0 mins 1"/>
              <a:gd name="p0x3" fmla="+- p0x3s p0a2dx 0"/>
              <a:gd name="p0y3s" fmla="*/ 1393 mins 1"/>
              <a:gd name="p0y3" fmla="+- p0y3s p0a2dy 0"/>
              <a:gd name="p0x4s" fmla="*/ 0 mins 1"/>
              <a:gd name="p0x4" fmla="+- p0x4s p0a3dx 0"/>
              <a:gd name="p0y4s" fmla="*/ 0 mins 1"/>
              <a:gd name="p0y4" fmla="+- p0y4s p0a3dy 0"/>
            </a:gdLst>
            <a:ahLst/>
            <a:cxnLst/>
            <a:rect l="0" t="0" r="0" b="0"/>
            <a:pathLst>
              <a:path w="19199" h="1393">
                <a:moveTo>
                  <a:pt x="0" y="0"/>
                </a:moveTo>
                <a:lnTo>
                  <a:pt x="19199" y="0"/>
                </a:lnTo>
                <a:lnTo>
                  <a:pt x="19199" y="1393"/>
                </a:lnTo>
                <a:lnTo>
                  <a:pt x="0" y="139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03679" y="232280"/>
            <a:ext cx="11239405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1 </a:t>
            </a:r>
            <a:r>
              <a:rPr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研究背景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476250" y="1165859"/>
            <a:ext cx="46990" cy="489169"/>
          </a:xfrm>
          <a:prstGeom prst="rect">
            <a:avLst/>
          </a:pr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19020" y="1085993"/>
            <a:ext cx="11096558" cy="637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应用场景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19020" y="1690760"/>
            <a:ext cx="11333418" cy="637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即时消息技术已渗透至工业物联网、车联网等关键领域，设备面临高丢包、高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RTT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抖动、频繁基站切换的恶劣弱网环境</a:t>
            </a: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476250" y="2970236"/>
            <a:ext cx="46990" cy="489169"/>
          </a:xfrm>
          <a:prstGeom prst="rect">
            <a:avLst/>
          </a:pr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19020" y="2894401"/>
            <a:ext cx="11096558" cy="637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技术瓶颈</a:t>
            </a: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19020" y="3575884"/>
            <a:ext cx="11333418" cy="637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传统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MOTT over TCP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在弱网环境下存在固有缺陷，无法满足低延迟、高可靠的通信需求</a:t>
            </a: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476250" y="4927588"/>
            <a:ext cx="46990" cy="489169"/>
          </a:xfrm>
          <a:prstGeom prst="rect">
            <a:avLst/>
          </a:pr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19020" y="4779525"/>
            <a:ext cx="11096558" cy="637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研究价值</a:t>
            </a: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619020" y="5424122"/>
            <a:ext cx="11333418" cy="637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基于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QUIC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协议重构传输层架构，构建一套能够在弱网环境下保持高可靠、低延迟的消息分发机制，为弱网环境提供新型通信基础设施支撑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D20BB01-9FE2-AAD9-A972-8A271A184C1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1017905"/>
          </a:xfrm>
          <a:custGeom>
            <a:avLst/>
            <a:gdLst>
              <a:gd name="sw" fmla="*/ 1 w 19199"/>
              <a:gd name="sh" fmla="*/ 1 h 1603"/>
              <a:gd name="mins" fmla="min sw sh"/>
              <a:gd name="dsw" fmla="+- 0 sw mins"/>
              <a:gd name="dsh" fmla="+- 0 sh mins"/>
              <a:gd name="p0a0dx" fmla="*/ dsw 19199 1"/>
              <a:gd name="p0a0dy" fmla="*/ dsh 0 1"/>
              <a:gd name="p0a1dx" fmla="*/ dsw 19199 1"/>
              <a:gd name="p0a1dy" fmla="*/ dsh 1603 1"/>
              <a:gd name="p0a2dx" fmla="*/ dsw 0 1"/>
              <a:gd name="p0a2dy" fmla="*/ dsh 1603 1"/>
              <a:gd name="p0a3dx" fmla="*/ dsw 0 1"/>
              <a:gd name="p0a3dy" fmla="*/ dsh 0 1"/>
              <a:gd name="p0x0s" fmla="*/ 0 mins 1"/>
              <a:gd name="p0x0" fmla="+- p0x0s p0a3dx 0"/>
              <a:gd name="p0y0s" fmla="*/ 0 mins 1"/>
              <a:gd name="p0y0" fmla="+- p0y0s p0a3dy 0"/>
              <a:gd name="p0x1s" fmla="*/ 19199 mins 1"/>
              <a:gd name="p0x1" fmla="+- p0x1s p0a0dx 0"/>
              <a:gd name="p0y1s" fmla="*/ 0 mins 1"/>
              <a:gd name="p0y1" fmla="+- p0y1s p0a0dy 0"/>
              <a:gd name="p0x2s" fmla="*/ 19199 mins 1"/>
              <a:gd name="p0x2" fmla="+- p0x2s p0a1dx 0"/>
              <a:gd name="p0y2s" fmla="*/ 1603 mins 1"/>
              <a:gd name="p0y2" fmla="+- p0y2s p0a1dy 0"/>
              <a:gd name="p0x3s" fmla="*/ 0 mins 1"/>
              <a:gd name="p0x3" fmla="+- p0x3s p0a2dx 0"/>
              <a:gd name="p0y3s" fmla="*/ 1603 mins 1"/>
              <a:gd name="p0y3" fmla="+- p0y3s p0a2dy 0"/>
              <a:gd name="p0x4s" fmla="*/ 0 mins 1"/>
              <a:gd name="p0x4" fmla="+- p0x4s p0a3dx 0"/>
              <a:gd name="p0y4s" fmla="*/ 0 mins 1"/>
              <a:gd name="p0y4" fmla="+- p0y4s p0a3dy 0"/>
            </a:gdLst>
            <a:ahLst/>
            <a:cxnLst/>
            <a:rect l="0" t="0" r="0" b="0"/>
            <a:pathLst>
              <a:path w="19199" h="1603">
                <a:moveTo>
                  <a:pt x="0" y="0"/>
                </a:moveTo>
                <a:lnTo>
                  <a:pt x="19199" y="0"/>
                </a:lnTo>
                <a:lnTo>
                  <a:pt x="19199" y="1603"/>
                </a:lnTo>
                <a:lnTo>
                  <a:pt x="0" y="16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380365" y="345956"/>
            <a:ext cx="11429933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1 </a:t>
            </a:r>
            <a:r>
              <a:rPr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问题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定义</a:t>
            </a:r>
            <a:endParaRPr sz="3200" b="1">
              <a:solidFill>
                <a:srgbClr val="333333"/>
              </a:solidFill>
              <a:latin typeface="SimHei" panose="02010609060101010101" charset="-122"/>
              <a:ea typeface="SimHei" panose="0201060906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380365" y="1632142"/>
            <a:ext cx="114300" cy="114300"/>
          </a:xfrm>
          <a:custGeom>
            <a:avLst/>
            <a:gdLst>
              <a:gd name="sw" fmla="*/ 1 w 179"/>
              <a:gd name="sh" fmla="*/ 1 h 179"/>
              <a:gd name="mins" fmla="min sw sh"/>
              <a:gd name="dsw" fmla="+- 0 sw mins"/>
              <a:gd name="dsh" fmla="+- 0 sh mins"/>
              <a:gd name="p0x0" fmla="*/ 89 w 179"/>
              <a:gd name="p0y0" fmla="*/ 0 h 179"/>
              <a:gd name="p0x1" fmla="*/ 89 w 179"/>
              <a:gd name="p0y1" fmla="*/ 0 h 179"/>
              <a:gd name="p0x2" fmla="*/ 139 w 179"/>
              <a:gd name="p0y2" fmla="*/ 0 h 179"/>
              <a:gd name="p0x3" fmla="*/ 179 w 179"/>
              <a:gd name="p0y3" fmla="*/ 40 h 179"/>
              <a:gd name="p0x4" fmla="*/ 179 w 179"/>
              <a:gd name="p0y4" fmla="*/ 89 h 179"/>
              <a:gd name="p0x5" fmla="*/ 179 w 179"/>
              <a:gd name="p0y5" fmla="*/ 89 h 179"/>
              <a:gd name="p0x6" fmla="*/ 179 w 179"/>
              <a:gd name="p0y6" fmla="*/ 139 h 179"/>
              <a:gd name="p0x7" fmla="*/ 139 w 179"/>
              <a:gd name="p0y7" fmla="*/ 179 h 179"/>
              <a:gd name="p0x8" fmla="*/ 89 w 179"/>
              <a:gd name="p0y8" fmla="*/ 179 h 179"/>
              <a:gd name="p0x9" fmla="*/ 89 w 179"/>
              <a:gd name="p0y9" fmla="*/ 179 h 179"/>
              <a:gd name="p0x10" fmla="*/ 40 w 179"/>
              <a:gd name="p0y10" fmla="*/ 179 h 179"/>
              <a:gd name="p0x11" fmla="*/ 0 w 179"/>
              <a:gd name="p0y11" fmla="*/ 139 h 179"/>
              <a:gd name="p0x12" fmla="*/ 0 w 179"/>
              <a:gd name="p0y12" fmla="*/ 89 h 179"/>
              <a:gd name="p0x13" fmla="*/ 0 w 179"/>
              <a:gd name="p0y13" fmla="*/ 89 h 179"/>
              <a:gd name="p0x14" fmla="*/ 0 w 179"/>
              <a:gd name="p0y14" fmla="*/ 40 h 179"/>
              <a:gd name="p0x15" fmla="*/ 40 w 179"/>
              <a:gd name="p0y15" fmla="*/ 0 h 179"/>
              <a:gd name="p0x16" fmla="*/ 89 w 179"/>
              <a:gd name="p0y16" fmla="*/ 0 h 17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09466" y="1552557"/>
            <a:ext cx="1233847" cy="6858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队头阻塞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09543" y="2056648"/>
            <a:ext cx="11459525" cy="1045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TCP</a:t>
            </a:r>
            <a:r>
              <a:rPr 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有序字节流机制导致单包丢失阻塞后续所有数据交付，高优先级控制信令实时性无法保障。在弱网环境下该问题尤为突出，严重影响端到端传输效率</a:t>
            </a:r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380365" y="3294499"/>
            <a:ext cx="114300" cy="114300"/>
          </a:xfrm>
          <a:custGeom>
            <a:avLst/>
            <a:gdLst>
              <a:gd name="sw" fmla="*/ 1 w 179"/>
              <a:gd name="sh" fmla="*/ 1 h 179"/>
              <a:gd name="mins" fmla="min sw sh"/>
              <a:gd name="dsw" fmla="+- 0 sw mins"/>
              <a:gd name="dsh" fmla="+- 0 sh mins"/>
              <a:gd name="p0x0" fmla="*/ 89 w 179"/>
              <a:gd name="p0y0" fmla="*/ 0 h 179"/>
              <a:gd name="p0x1" fmla="*/ 89 w 179"/>
              <a:gd name="p0y1" fmla="*/ 0 h 179"/>
              <a:gd name="p0x2" fmla="*/ 139 w 179"/>
              <a:gd name="p0y2" fmla="*/ 0 h 179"/>
              <a:gd name="p0x3" fmla="*/ 179 w 179"/>
              <a:gd name="p0y3" fmla="*/ 40 h 179"/>
              <a:gd name="p0x4" fmla="*/ 179 w 179"/>
              <a:gd name="p0y4" fmla="*/ 89 h 179"/>
              <a:gd name="p0x5" fmla="*/ 179 w 179"/>
              <a:gd name="p0y5" fmla="*/ 89 h 179"/>
              <a:gd name="p0x6" fmla="*/ 179 w 179"/>
              <a:gd name="p0y6" fmla="*/ 139 h 179"/>
              <a:gd name="p0x7" fmla="*/ 139 w 179"/>
              <a:gd name="p0y7" fmla="*/ 179 h 179"/>
              <a:gd name="p0x8" fmla="*/ 89 w 179"/>
              <a:gd name="p0y8" fmla="*/ 179 h 179"/>
              <a:gd name="p0x9" fmla="*/ 89 w 179"/>
              <a:gd name="p0y9" fmla="*/ 179 h 179"/>
              <a:gd name="p0x10" fmla="*/ 40 w 179"/>
              <a:gd name="p0y10" fmla="*/ 179 h 179"/>
              <a:gd name="p0x11" fmla="*/ 0 w 179"/>
              <a:gd name="p0y11" fmla="*/ 139 h 179"/>
              <a:gd name="p0x12" fmla="*/ 0 w 179"/>
              <a:gd name="p0y12" fmla="*/ 89 h 179"/>
              <a:gd name="p0x13" fmla="*/ 0 w 179"/>
              <a:gd name="p0y13" fmla="*/ 89 h 179"/>
              <a:gd name="p0x14" fmla="*/ 0 w 179"/>
              <a:gd name="p0y14" fmla="*/ 40 h 179"/>
              <a:gd name="p0x15" fmla="*/ 40 w 179"/>
              <a:gd name="p0y15" fmla="*/ 0 h 179"/>
              <a:gd name="p0x16" fmla="*/ 89 w 179"/>
              <a:gd name="p0y16" fmla="*/ 0 h 17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09466" y="3214950"/>
            <a:ext cx="1233847" cy="6858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保活误判</a:t>
            </a: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09543" y="3719040"/>
            <a:ext cx="11790866" cy="4866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固定心跳机制无法适配网络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RTT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剧烈波动，易造成误判断连，增加终端无效功耗。频繁重连还会进一步加剧网络拥塞，形成恶性循环</a:t>
            </a:r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380365" y="4957426"/>
            <a:ext cx="114300" cy="113665"/>
          </a:xfrm>
          <a:custGeom>
            <a:avLst/>
            <a:gdLst>
              <a:gd name="sw" fmla="*/ 1 w 179"/>
              <a:gd name="sh" fmla="*/ 1 h 179"/>
              <a:gd name="mins" fmla="min sw sh"/>
              <a:gd name="dsw" fmla="+- 0 sw mins"/>
              <a:gd name="dsh" fmla="+- 0 sh mins"/>
              <a:gd name="p0x0" fmla="*/ 89 w 179"/>
              <a:gd name="p0y0" fmla="*/ 0 h 179"/>
              <a:gd name="p0x1" fmla="*/ 89 w 179"/>
              <a:gd name="p0y1" fmla="*/ 0 h 179"/>
              <a:gd name="p0x2" fmla="*/ 139 w 179"/>
              <a:gd name="p0y2" fmla="*/ 0 h 179"/>
              <a:gd name="p0x3" fmla="*/ 179 w 179"/>
              <a:gd name="p0y3" fmla="*/ 40 h 179"/>
              <a:gd name="p0x4" fmla="*/ 179 w 179"/>
              <a:gd name="p0y4" fmla="*/ 89 h 179"/>
              <a:gd name="p0x5" fmla="*/ 179 w 179"/>
              <a:gd name="p0y5" fmla="*/ 89 h 179"/>
              <a:gd name="p0x6" fmla="*/ 179 w 179"/>
              <a:gd name="p0y6" fmla="*/ 139 h 179"/>
              <a:gd name="p0x7" fmla="*/ 139 w 179"/>
              <a:gd name="p0y7" fmla="*/ 179 h 179"/>
              <a:gd name="p0x8" fmla="*/ 89 w 179"/>
              <a:gd name="p0y8" fmla="*/ 179 h 179"/>
              <a:gd name="p0x9" fmla="*/ 89 w 179"/>
              <a:gd name="p0y9" fmla="*/ 179 h 179"/>
              <a:gd name="p0x10" fmla="*/ 40 w 179"/>
              <a:gd name="p0y10" fmla="*/ 179 h 179"/>
              <a:gd name="p0x11" fmla="*/ 0 w 179"/>
              <a:gd name="p0y11" fmla="*/ 139 h 179"/>
              <a:gd name="p0x12" fmla="*/ 0 w 179"/>
              <a:gd name="p0y12" fmla="*/ 89 h 179"/>
              <a:gd name="p0x13" fmla="*/ 0 w 179"/>
              <a:gd name="p0y13" fmla="*/ 89 h 179"/>
              <a:gd name="p0x14" fmla="*/ 0 w 179"/>
              <a:gd name="p0y14" fmla="*/ 40 h 179"/>
              <a:gd name="p0x15" fmla="*/ 40 w 179"/>
              <a:gd name="p0y15" fmla="*/ 0 h 179"/>
              <a:gd name="p0x16" fmla="*/ 89 w 179"/>
              <a:gd name="p0y16" fmla="*/ 0 h 17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09466" y="4877343"/>
            <a:ext cx="1233847" cy="6858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连接僵化</a:t>
            </a: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609543" y="5381434"/>
            <a:ext cx="11459525" cy="1045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TCP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连接与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IP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四元组强绑定，基站切换导致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IP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变更时连接中断，重连耗时严重。移动场景下平均重连耗时可达数秒，严重影响用户体验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1AB5433-AF8D-5C27-2173-539687CB71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191AB-9CDF-9DE9-1DBD-D9B01F7A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2F1F9A4-1A61-AB45-E275-712294ED873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1452" y="180204"/>
            <a:ext cx="116205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2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系统设计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: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基于 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Erlang/OTP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的四层架构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59D532A-5E5F-B14B-20B9-BB602129BA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8191" y="1163082"/>
            <a:ext cx="5822632" cy="646218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1.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接入网关层：承接海量并发握手与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QUIC/TLS 1.3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协议解析</a:t>
            </a: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2.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会话维护层：基于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Actor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模型实现进程级状态隔离；负责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MQTT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生命周期维护管理</a:t>
            </a:r>
          </a:p>
          <a:p>
            <a:pPr>
              <a:lnSpc>
                <a:spcPct val="133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3.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消息分发层：基于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ETS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内存表的前缀树实现</a:t>
            </a:r>
            <a:r>
              <a:rPr lang="zh-CN" altLang="zh-CN"/>
              <a:t>应用层</a:t>
            </a:r>
            <a:r>
              <a:rPr lang="zh-CN" altLang="en-US"/>
              <a:t>主</a:t>
            </a:r>
            <a:r>
              <a:rPr lang="zh-CN" altLang="zh-CN"/>
              <a:t>题匹配与报文投递</a:t>
            </a: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4.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基础设施层：利用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Redis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缓存与数据库存储离线消息及订阅关系，为业务提供持久化存储支撑</a:t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algn="l">
              <a:lnSpc>
                <a:spcPct val="133000"/>
              </a:lnSpc>
            </a:pPr>
            <a:endParaRPr lang="en-US" altLang="zh-CN">
              <a:solidFill>
                <a:srgbClr val="666666"/>
              </a:solidFill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algn="l">
              <a:lnSpc>
                <a:spcPct val="133000"/>
              </a:lnSpc>
            </a:pPr>
            <a:endParaRPr lang="zh-CN" altLang="en-US">
              <a:solidFill>
                <a:srgbClr val="666666"/>
              </a:solidFill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7EF2CB3-D4E2-6648-F3D8-DCDC6C1C5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73FD49F-1E59-2BDC-64DA-1C1F819F71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0823" y="878669"/>
            <a:ext cx="5961129" cy="5979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0458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D9592-4BD3-3CD7-C1A5-C117FAE6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64F1CFD-B033-58B2-5B8C-5BDBC95D4CE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1452" y="505235"/>
            <a:ext cx="116205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2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系统设计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: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业务状态转移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2CD7FEC-4414-0A90-1110-D42FB2954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1" r="6302" b="-1"/>
          <a:stretch>
            <a:fillRect/>
          </a:stretch>
        </p:blipFill>
        <p:spPr>
          <a:xfrm>
            <a:off x="361998" y="1479550"/>
            <a:ext cx="11423602" cy="50319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93D6DF3-FB34-2940-266B-2B75ADD62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6559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8879" y="362312"/>
            <a:ext cx="11239405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3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机制实现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：多流复用映射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76250" y="1094346"/>
            <a:ext cx="4935693" cy="2485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【核心要点】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1665" y="1593320"/>
            <a:ext cx="5592462" cy="16958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三级流映射模型：通过流映射器拦截所有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MQTT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报文，根据报文类型与 </a:t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QoS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等级，动态分配不同的 </a:t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QUIC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物理通道，打破传统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TCP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单一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FIFO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队列的物理限制，解决队头阻塞问题</a:t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88230" y="3494952"/>
            <a:ext cx="4935693" cy="2485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【技术优势】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30E89B22-2169-6E87-7C90-C13AA1B9AA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6980" y="0"/>
            <a:ext cx="5875020" cy="6693061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D4D2E34B-A0B6-2E34-F2B3-D7E907BD316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88230" y="4136130"/>
            <a:ext cx="5692323" cy="255693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>
                <a:latin typeface="SimSun" panose="02010600030101010101" charset="-122"/>
                <a:ea typeface="SimSun" panose="02010600030101010101" charset="-122"/>
              </a:rPr>
              <a:t>1</a:t>
            </a:r>
            <a:r>
              <a:rPr>
                <a:latin typeface="SimSun" panose="02010600030101010101" charset="-122"/>
                <a:ea typeface="SimSun" panose="02010600030101010101" charset="-122"/>
              </a:rPr>
              <a:t>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</a:rPr>
              <a:t>控制指令优先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：强制实现控制流与数据流的物理隔离，使业务大包的重传退避不再波及信令传输</a:t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</a:rPr>
              <a:t>2.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抑制伪断连现象：即使业务流因拥塞导致缓冲区暂停，关键心跳仍能准时送达，保障弱网环境下的长连接稳定性</a:t>
            </a:r>
          </a:p>
          <a:p>
            <a:pPr>
              <a:lnSpc>
                <a:spcPct val="133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B7D75A7-BE00-1E32-611A-E3B5C3E60A9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88230" y="5763654"/>
            <a:ext cx="5692323" cy="12543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endParaRPr lang="zh-CN" altLang="en-US">
              <a:solidFill>
                <a:srgbClr val="666666"/>
              </a:solidFill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2768" y="208469"/>
            <a:ext cx="6231978" cy="63575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7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3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机制实现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：自适应保活算法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570865" y="3241675"/>
            <a:ext cx="5082540" cy="1723390"/>
            <a:chOff x="899" y="5105"/>
            <a:chExt cx="8004" cy="2714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899" y="5105"/>
              <a:ext cx="8004" cy="2715"/>
            </a:xfrm>
            <a:custGeom>
              <a:avLst/>
              <a:gdLst>
                <a:gd name="sw" fmla="*/ 1 w 8004"/>
                <a:gd name="sh" fmla="*/ 1 h 2714"/>
                <a:gd name="mins" fmla="min sw sh"/>
                <a:gd name="dsw" fmla="+- 0 sw mins"/>
                <a:gd name="dsh" fmla="+- 0 sh mins"/>
                <a:gd name="p0x0" fmla="*/ 0 w 8004"/>
                <a:gd name="p0y0" fmla="*/ 0 h 2714"/>
                <a:gd name="p0x1" fmla="*/ 8004 w 8004"/>
                <a:gd name="p0y1" fmla="*/ 0 h 2714"/>
                <a:gd name="p0x2" fmla="*/ 8004 w 8004"/>
                <a:gd name="p0y2" fmla="*/ 2714 h 2714"/>
                <a:gd name="p0x3" fmla="*/ 0 w 8004"/>
                <a:gd name="p0y3" fmla="*/ 2714 h 2714"/>
                <a:gd name="p0x4" fmla="*/ 0 w 8004"/>
                <a:gd name="p0y4" fmla="*/ 0 h 2714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7"/>
              </p:custDataLst>
            </p:nvPr>
          </p:nvSpPr>
          <p:spPr>
            <a:xfrm>
              <a:off x="899" y="5105"/>
              <a:ext cx="8004" cy="15"/>
            </a:xfrm>
            <a:custGeom>
              <a:avLst/>
              <a:gdLst>
                <a:gd name="sw" fmla="*/ 1 w 8004"/>
                <a:gd name="sh" fmla="*/ 1 h 14"/>
                <a:gd name="mins" fmla="min sw sh"/>
                <a:gd name="dsw" fmla="+- 0 sw mins"/>
                <a:gd name="dsh" fmla="+- 0 sh mins"/>
                <a:gd name="p0x0" fmla="*/ 0 w 8004"/>
                <a:gd name="p0y0" fmla="*/ 0 h 14"/>
                <a:gd name="p0x1" fmla="*/ 2 w 8004"/>
                <a:gd name="p0y1" fmla="*/ 0 h 14"/>
                <a:gd name="p0x2" fmla="*/ 2 w 8004"/>
                <a:gd name="p0y2" fmla="*/ 14 h 14"/>
                <a:gd name="p0x3" fmla="*/ 0 w 8004"/>
                <a:gd name="p0y3" fmla="*/ 14 h 14"/>
                <a:gd name="p0x4" fmla="*/ 0 w 8004"/>
                <a:gd name="p0y4" fmla="*/ 0 h 14"/>
                <a:gd name="p0x5" fmla="*/ 16 w 8004"/>
                <a:gd name="p0y5" fmla="*/ 0 h 14"/>
                <a:gd name="p0x6" fmla="*/ 46 w 8004"/>
                <a:gd name="p0y6" fmla="*/ 0 h 14"/>
                <a:gd name="p0x7" fmla="*/ 46 w 8004"/>
                <a:gd name="p0y7" fmla="*/ 14 h 14"/>
                <a:gd name="p0x8" fmla="*/ 16 w 8004"/>
                <a:gd name="p0y8" fmla="*/ 14 h 14"/>
                <a:gd name="p0x9" fmla="*/ 16 w 8004"/>
                <a:gd name="p0y9" fmla="*/ 0 h 14"/>
                <a:gd name="p0x10" fmla="*/ 60 w 8004"/>
                <a:gd name="p0y10" fmla="*/ 0 h 14"/>
                <a:gd name="p0x11" fmla="*/ 90 w 8004"/>
                <a:gd name="p0y11" fmla="*/ 0 h 14"/>
                <a:gd name="p0x12" fmla="*/ 90 w 8004"/>
                <a:gd name="p0y12" fmla="*/ 14 h 14"/>
                <a:gd name="p0x13" fmla="*/ 60 w 8004"/>
                <a:gd name="p0y13" fmla="*/ 14 h 14"/>
                <a:gd name="p0x14" fmla="*/ 60 w 8004"/>
                <a:gd name="p0y14" fmla="*/ 0 h 14"/>
                <a:gd name="p0x15" fmla="*/ 104 w 8004"/>
                <a:gd name="p0y15" fmla="*/ 0 h 14"/>
                <a:gd name="p0x16" fmla="*/ 134 w 8004"/>
                <a:gd name="p0y16" fmla="*/ 0 h 14"/>
                <a:gd name="p0x17" fmla="*/ 134 w 8004"/>
                <a:gd name="p0y17" fmla="*/ 14 h 14"/>
                <a:gd name="p0x18" fmla="*/ 104 w 8004"/>
                <a:gd name="p0y18" fmla="*/ 14 h 14"/>
                <a:gd name="p0x19" fmla="*/ 104 w 8004"/>
                <a:gd name="p0y19" fmla="*/ 0 h 14"/>
                <a:gd name="p0x20" fmla="*/ 149 w 8004"/>
                <a:gd name="p0y20" fmla="*/ 0 h 14"/>
                <a:gd name="p0x21" fmla="*/ 178 w 8004"/>
                <a:gd name="p0y21" fmla="*/ 0 h 14"/>
                <a:gd name="p0x22" fmla="*/ 178 w 8004"/>
                <a:gd name="p0y22" fmla="*/ 14 h 14"/>
                <a:gd name="p0x23" fmla="*/ 149 w 8004"/>
                <a:gd name="p0y23" fmla="*/ 14 h 14"/>
                <a:gd name="p0x24" fmla="*/ 149 w 8004"/>
                <a:gd name="p0y24" fmla="*/ 0 h 14"/>
                <a:gd name="p0x25" fmla="*/ 193 w 8004"/>
                <a:gd name="p0y25" fmla="*/ 0 h 14"/>
                <a:gd name="p0x26" fmla="*/ 222 w 8004"/>
                <a:gd name="p0y26" fmla="*/ 0 h 14"/>
                <a:gd name="p0x27" fmla="*/ 222 w 8004"/>
                <a:gd name="p0y27" fmla="*/ 14 h 14"/>
                <a:gd name="p0x28" fmla="*/ 193 w 8004"/>
                <a:gd name="p0y28" fmla="*/ 14 h 14"/>
                <a:gd name="p0x29" fmla="*/ 193 w 8004"/>
                <a:gd name="p0y29" fmla="*/ 0 h 14"/>
                <a:gd name="p0x30" fmla="*/ 237 w 8004"/>
                <a:gd name="p0y30" fmla="*/ 0 h 14"/>
                <a:gd name="p0x31" fmla="*/ 266 w 8004"/>
                <a:gd name="p0y31" fmla="*/ 0 h 14"/>
                <a:gd name="p0x32" fmla="*/ 266 w 8004"/>
                <a:gd name="p0y32" fmla="*/ 14 h 14"/>
                <a:gd name="p0x33" fmla="*/ 237 w 8004"/>
                <a:gd name="p0y33" fmla="*/ 14 h 14"/>
                <a:gd name="p0x34" fmla="*/ 237 w 8004"/>
                <a:gd name="p0y34" fmla="*/ 0 h 14"/>
                <a:gd name="p0x35" fmla="*/ 281 w 8004"/>
                <a:gd name="p0y35" fmla="*/ 0 h 14"/>
                <a:gd name="p0x36" fmla="*/ 310 w 8004"/>
                <a:gd name="p0y36" fmla="*/ 0 h 14"/>
                <a:gd name="p0x37" fmla="*/ 310 w 8004"/>
                <a:gd name="p0y37" fmla="*/ 14 h 14"/>
                <a:gd name="p0x38" fmla="*/ 281 w 8004"/>
                <a:gd name="p0y38" fmla="*/ 14 h 14"/>
                <a:gd name="p0x39" fmla="*/ 281 w 8004"/>
                <a:gd name="p0y39" fmla="*/ 0 h 14"/>
                <a:gd name="p0x40" fmla="*/ 325 w 8004"/>
                <a:gd name="p0y40" fmla="*/ 0 h 14"/>
                <a:gd name="p0x41" fmla="*/ 354 w 8004"/>
                <a:gd name="p0y41" fmla="*/ 0 h 14"/>
                <a:gd name="p0x42" fmla="*/ 354 w 8004"/>
                <a:gd name="p0y42" fmla="*/ 14 h 14"/>
                <a:gd name="p0x43" fmla="*/ 325 w 8004"/>
                <a:gd name="p0y43" fmla="*/ 14 h 14"/>
                <a:gd name="p0x44" fmla="*/ 325 w 8004"/>
                <a:gd name="p0y44" fmla="*/ 0 h 14"/>
                <a:gd name="p0x45" fmla="*/ 369 w 8004"/>
                <a:gd name="p0y45" fmla="*/ 0 h 14"/>
                <a:gd name="p0x46" fmla="*/ 399 w 8004"/>
                <a:gd name="p0y46" fmla="*/ 0 h 14"/>
                <a:gd name="p0x47" fmla="*/ 399 w 8004"/>
                <a:gd name="p0y47" fmla="*/ 14 h 14"/>
                <a:gd name="p0x48" fmla="*/ 369 w 8004"/>
                <a:gd name="p0y48" fmla="*/ 14 h 14"/>
                <a:gd name="p0x49" fmla="*/ 369 w 8004"/>
                <a:gd name="p0y49" fmla="*/ 0 h 14"/>
                <a:gd name="p0x50" fmla="*/ 413 w 8004"/>
                <a:gd name="p0y50" fmla="*/ 0 h 14"/>
                <a:gd name="p0x51" fmla="*/ 443 w 8004"/>
                <a:gd name="p0y51" fmla="*/ 0 h 14"/>
                <a:gd name="p0x52" fmla="*/ 443 w 8004"/>
                <a:gd name="p0y52" fmla="*/ 14 h 14"/>
                <a:gd name="p0x53" fmla="*/ 413 w 8004"/>
                <a:gd name="p0y53" fmla="*/ 14 h 14"/>
                <a:gd name="p0x54" fmla="*/ 413 w 8004"/>
                <a:gd name="p0y54" fmla="*/ 0 h 14"/>
                <a:gd name="p0x55" fmla="*/ 457 w 8004"/>
                <a:gd name="p0y55" fmla="*/ 0 h 14"/>
                <a:gd name="p0x56" fmla="*/ 487 w 8004"/>
                <a:gd name="p0y56" fmla="*/ 0 h 14"/>
                <a:gd name="p0x57" fmla="*/ 487 w 8004"/>
                <a:gd name="p0y57" fmla="*/ 14 h 14"/>
                <a:gd name="p0x58" fmla="*/ 457 w 8004"/>
                <a:gd name="p0y58" fmla="*/ 14 h 14"/>
                <a:gd name="p0x59" fmla="*/ 457 w 8004"/>
                <a:gd name="p0y59" fmla="*/ 0 h 14"/>
                <a:gd name="p0x60" fmla="*/ 502 w 8004"/>
                <a:gd name="p0y60" fmla="*/ 0 h 14"/>
                <a:gd name="p0x61" fmla="*/ 531 w 8004"/>
                <a:gd name="p0y61" fmla="*/ 0 h 14"/>
                <a:gd name="p0x62" fmla="*/ 531 w 8004"/>
                <a:gd name="p0y62" fmla="*/ 14 h 14"/>
                <a:gd name="p0x63" fmla="*/ 502 w 8004"/>
                <a:gd name="p0y63" fmla="*/ 14 h 14"/>
                <a:gd name="p0x64" fmla="*/ 502 w 8004"/>
                <a:gd name="p0y64" fmla="*/ 0 h 14"/>
                <a:gd name="p0x65" fmla="*/ 546 w 8004"/>
                <a:gd name="p0y65" fmla="*/ 0 h 14"/>
                <a:gd name="p0x66" fmla="*/ 575 w 8004"/>
                <a:gd name="p0y66" fmla="*/ 0 h 14"/>
                <a:gd name="p0x67" fmla="*/ 575 w 8004"/>
                <a:gd name="p0y67" fmla="*/ 14 h 14"/>
                <a:gd name="p0x68" fmla="*/ 546 w 8004"/>
                <a:gd name="p0y68" fmla="*/ 14 h 14"/>
                <a:gd name="p0x69" fmla="*/ 546 w 8004"/>
                <a:gd name="p0y69" fmla="*/ 0 h 14"/>
                <a:gd name="p0x70" fmla="*/ 590 w 8004"/>
                <a:gd name="p0y70" fmla="*/ 0 h 14"/>
                <a:gd name="p0x71" fmla="*/ 619 w 8004"/>
                <a:gd name="p0y71" fmla="*/ 0 h 14"/>
                <a:gd name="p0x72" fmla="*/ 619 w 8004"/>
                <a:gd name="p0y72" fmla="*/ 14 h 14"/>
                <a:gd name="p0x73" fmla="*/ 590 w 8004"/>
                <a:gd name="p0y73" fmla="*/ 14 h 14"/>
                <a:gd name="p0x74" fmla="*/ 590 w 8004"/>
                <a:gd name="p0y74" fmla="*/ 0 h 14"/>
                <a:gd name="p0x75" fmla="*/ 634 w 8004"/>
                <a:gd name="p0y75" fmla="*/ 0 h 14"/>
                <a:gd name="p0x76" fmla="*/ 663 w 8004"/>
                <a:gd name="p0y76" fmla="*/ 0 h 14"/>
                <a:gd name="p0x77" fmla="*/ 663 w 8004"/>
                <a:gd name="p0y77" fmla="*/ 14 h 14"/>
                <a:gd name="p0x78" fmla="*/ 634 w 8004"/>
                <a:gd name="p0y78" fmla="*/ 14 h 14"/>
                <a:gd name="p0x79" fmla="*/ 634 w 8004"/>
                <a:gd name="p0y79" fmla="*/ 0 h 14"/>
                <a:gd name="p0x80" fmla="*/ 678 w 8004"/>
                <a:gd name="p0y80" fmla="*/ 0 h 14"/>
                <a:gd name="p0x81" fmla="*/ 707 w 8004"/>
                <a:gd name="p0y81" fmla="*/ 0 h 14"/>
                <a:gd name="p0x82" fmla="*/ 707 w 8004"/>
                <a:gd name="p0y82" fmla="*/ 14 h 14"/>
                <a:gd name="p0x83" fmla="*/ 678 w 8004"/>
                <a:gd name="p0y83" fmla="*/ 14 h 14"/>
                <a:gd name="p0x84" fmla="*/ 678 w 8004"/>
                <a:gd name="p0y84" fmla="*/ 0 h 14"/>
                <a:gd name="p0x85" fmla="*/ 722 w 8004"/>
                <a:gd name="p0y85" fmla="*/ 0 h 14"/>
                <a:gd name="p0x86" fmla="*/ 752 w 8004"/>
                <a:gd name="p0y86" fmla="*/ 0 h 14"/>
                <a:gd name="p0x87" fmla="*/ 752 w 8004"/>
                <a:gd name="p0y87" fmla="*/ 14 h 14"/>
                <a:gd name="p0x88" fmla="*/ 722 w 8004"/>
                <a:gd name="p0y88" fmla="*/ 14 h 14"/>
                <a:gd name="p0x89" fmla="*/ 722 w 8004"/>
                <a:gd name="p0y89" fmla="*/ 0 h 14"/>
                <a:gd name="p0x90" fmla="*/ 766 w 8004"/>
                <a:gd name="p0y90" fmla="*/ 0 h 14"/>
                <a:gd name="p0x91" fmla="*/ 796 w 8004"/>
                <a:gd name="p0y91" fmla="*/ 0 h 14"/>
                <a:gd name="p0x92" fmla="*/ 796 w 8004"/>
                <a:gd name="p0y92" fmla="*/ 14 h 14"/>
                <a:gd name="p0x93" fmla="*/ 766 w 8004"/>
                <a:gd name="p0y93" fmla="*/ 14 h 14"/>
                <a:gd name="p0x94" fmla="*/ 766 w 8004"/>
                <a:gd name="p0y94" fmla="*/ 0 h 14"/>
                <a:gd name="p0x95" fmla="*/ 810 w 8004"/>
                <a:gd name="p0y95" fmla="*/ 0 h 14"/>
                <a:gd name="p0x96" fmla="*/ 840 w 8004"/>
                <a:gd name="p0y96" fmla="*/ 0 h 14"/>
                <a:gd name="p0x97" fmla="*/ 840 w 8004"/>
                <a:gd name="p0y97" fmla="*/ 14 h 14"/>
                <a:gd name="p0x98" fmla="*/ 810 w 8004"/>
                <a:gd name="p0y98" fmla="*/ 14 h 14"/>
                <a:gd name="p0x99" fmla="*/ 810 w 8004"/>
                <a:gd name="p0y99" fmla="*/ 0 h 14"/>
                <a:gd name="p0x100" fmla="*/ 854 w 8004"/>
                <a:gd name="p0y100" fmla="*/ 0 h 14"/>
                <a:gd name="p0x101" fmla="*/ 884 w 8004"/>
                <a:gd name="p0y101" fmla="*/ 0 h 14"/>
                <a:gd name="p0x102" fmla="*/ 884 w 8004"/>
                <a:gd name="p0y102" fmla="*/ 14 h 14"/>
                <a:gd name="p0x103" fmla="*/ 854 w 8004"/>
                <a:gd name="p0y103" fmla="*/ 14 h 14"/>
                <a:gd name="p0x104" fmla="*/ 854 w 8004"/>
                <a:gd name="p0y104" fmla="*/ 0 h 14"/>
                <a:gd name="p0x105" fmla="*/ 899 w 8004"/>
                <a:gd name="p0y105" fmla="*/ 0 h 14"/>
                <a:gd name="p0x106" fmla="*/ 928 w 8004"/>
                <a:gd name="p0y106" fmla="*/ 0 h 14"/>
                <a:gd name="p0x107" fmla="*/ 928 w 8004"/>
                <a:gd name="p0y107" fmla="*/ 14 h 14"/>
                <a:gd name="p0x108" fmla="*/ 899 w 8004"/>
                <a:gd name="p0y108" fmla="*/ 14 h 14"/>
                <a:gd name="p0x109" fmla="*/ 899 w 8004"/>
                <a:gd name="p0y109" fmla="*/ 0 h 14"/>
                <a:gd name="p0x110" fmla="*/ 943 w 8004"/>
                <a:gd name="p0y110" fmla="*/ 0 h 14"/>
                <a:gd name="p0x111" fmla="*/ 972 w 8004"/>
                <a:gd name="p0y111" fmla="*/ 0 h 14"/>
                <a:gd name="p0x112" fmla="*/ 972 w 8004"/>
                <a:gd name="p0y112" fmla="*/ 14 h 14"/>
                <a:gd name="p0x113" fmla="*/ 943 w 8004"/>
                <a:gd name="p0y113" fmla="*/ 14 h 14"/>
                <a:gd name="p0x114" fmla="*/ 943 w 8004"/>
                <a:gd name="p0y114" fmla="*/ 0 h 14"/>
                <a:gd name="p0x115" fmla="*/ 987 w 8004"/>
                <a:gd name="p0y115" fmla="*/ 0 h 14"/>
                <a:gd name="p0x116" fmla="*/ 1016 w 8004"/>
                <a:gd name="p0y116" fmla="*/ 0 h 14"/>
                <a:gd name="p0x117" fmla="*/ 1016 w 8004"/>
                <a:gd name="p0y117" fmla="*/ 14 h 14"/>
                <a:gd name="p0x118" fmla="*/ 987 w 8004"/>
                <a:gd name="p0y118" fmla="*/ 14 h 14"/>
                <a:gd name="p0x119" fmla="*/ 987 w 8004"/>
                <a:gd name="p0y119" fmla="*/ 0 h 14"/>
                <a:gd name="p0x120" fmla="*/ 1031 w 8004"/>
                <a:gd name="p0y120" fmla="*/ 0 h 14"/>
                <a:gd name="p0x121" fmla="*/ 1060 w 8004"/>
                <a:gd name="p0y121" fmla="*/ 0 h 14"/>
                <a:gd name="p0x122" fmla="*/ 1060 w 8004"/>
                <a:gd name="p0y122" fmla="*/ 14 h 14"/>
                <a:gd name="p0x123" fmla="*/ 1031 w 8004"/>
                <a:gd name="p0y123" fmla="*/ 14 h 14"/>
                <a:gd name="p0x124" fmla="*/ 1031 w 8004"/>
                <a:gd name="p0y124" fmla="*/ 0 h 14"/>
                <a:gd name="p0x125" fmla="*/ 1075 w 8004"/>
                <a:gd name="p0y125" fmla="*/ 0 h 14"/>
                <a:gd name="p0x126" fmla="*/ 1104 w 8004"/>
                <a:gd name="p0y126" fmla="*/ 0 h 14"/>
                <a:gd name="p0x127" fmla="*/ 1104 w 8004"/>
                <a:gd name="p0y127" fmla="*/ 14 h 14"/>
                <a:gd name="p0x128" fmla="*/ 1075 w 8004"/>
                <a:gd name="p0y128" fmla="*/ 14 h 14"/>
                <a:gd name="p0x129" fmla="*/ 1075 w 8004"/>
                <a:gd name="p0y129" fmla="*/ 0 h 14"/>
                <a:gd name="p0x130" fmla="*/ 1119 w 8004"/>
                <a:gd name="p0y130" fmla="*/ 0 h 14"/>
                <a:gd name="p0x131" fmla="*/ 1149 w 8004"/>
                <a:gd name="p0y131" fmla="*/ 0 h 14"/>
                <a:gd name="p0x132" fmla="*/ 1149 w 8004"/>
                <a:gd name="p0y132" fmla="*/ 14 h 14"/>
                <a:gd name="p0x133" fmla="*/ 1119 w 8004"/>
                <a:gd name="p0y133" fmla="*/ 14 h 14"/>
                <a:gd name="p0x134" fmla="*/ 1119 w 8004"/>
                <a:gd name="p0y134" fmla="*/ 0 h 14"/>
                <a:gd name="p0x135" fmla="*/ 1163 w 8004"/>
                <a:gd name="p0y135" fmla="*/ 0 h 14"/>
                <a:gd name="p0x136" fmla="*/ 1193 w 8004"/>
                <a:gd name="p0y136" fmla="*/ 0 h 14"/>
                <a:gd name="p0x137" fmla="*/ 1193 w 8004"/>
                <a:gd name="p0y137" fmla="*/ 14 h 14"/>
                <a:gd name="p0x138" fmla="*/ 1163 w 8004"/>
                <a:gd name="p0y138" fmla="*/ 14 h 14"/>
                <a:gd name="p0x139" fmla="*/ 1163 w 8004"/>
                <a:gd name="p0y139" fmla="*/ 0 h 14"/>
                <a:gd name="p0x140" fmla="*/ 1207 w 8004"/>
                <a:gd name="p0y140" fmla="*/ 0 h 14"/>
                <a:gd name="p0x141" fmla="*/ 1237 w 8004"/>
                <a:gd name="p0y141" fmla="*/ 0 h 14"/>
                <a:gd name="p0x142" fmla="*/ 1237 w 8004"/>
                <a:gd name="p0y142" fmla="*/ 14 h 14"/>
                <a:gd name="p0x143" fmla="*/ 1207 w 8004"/>
                <a:gd name="p0y143" fmla="*/ 14 h 14"/>
                <a:gd name="p0x144" fmla="*/ 1207 w 8004"/>
                <a:gd name="p0y144" fmla="*/ 0 h 14"/>
                <a:gd name="p0x145" fmla="*/ 1252 w 8004"/>
                <a:gd name="p0y145" fmla="*/ 0 h 14"/>
                <a:gd name="p0x146" fmla="*/ 1281 w 8004"/>
                <a:gd name="p0y146" fmla="*/ 0 h 14"/>
                <a:gd name="p0x147" fmla="*/ 1281 w 8004"/>
                <a:gd name="p0y147" fmla="*/ 14 h 14"/>
                <a:gd name="p0x148" fmla="*/ 1252 w 8004"/>
                <a:gd name="p0y148" fmla="*/ 14 h 14"/>
                <a:gd name="p0x149" fmla="*/ 1252 w 8004"/>
                <a:gd name="p0y149" fmla="*/ 0 h 14"/>
                <a:gd name="p0x150" fmla="*/ 1296 w 8004"/>
                <a:gd name="p0y150" fmla="*/ 0 h 14"/>
                <a:gd name="p0x151" fmla="*/ 1325 w 8004"/>
                <a:gd name="p0y151" fmla="*/ 0 h 14"/>
                <a:gd name="p0x152" fmla="*/ 1325 w 8004"/>
                <a:gd name="p0y152" fmla="*/ 14 h 14"/>
                <a:gd name="p0x153" fmla="*/ 1296 w 8004"/>
                <a:gd name="p0y153" fmla="*/ 14 h 14"/>
                <a:gd name="p0x154" fmla="*/ 1296 w 8004"/>
                <a:gd name="p0y154" fmla="*/ 0 h 14"/>
                <a:gd name="p0x155" fmla="*/ 1340 w 8004"/>
                <a:gd name="p0y155" fmla="*/ 0 h 14"/>
                <a:gd name="p0x156" fmla="*/ 1369 w 8004"/>
                <a:gd name="p0y156" fmla="*/ 0 h 14"/>
                <a:gd name="p0x157" fmla="*/ 1369 w 8004"/>
                <a:gd name="p0y157" fmla="*/ 14 h 14"/>
                <a:gd name="p0x158" fmla="*/ 1340 w 8004"/>
                <a:gd name="p0y158" fmla="*/ 14 h 14"/>
                <a:gd name="p0x159" fmla="*/ 1340 w 8004"/>
                <a:gd name="p0y159" fmla="*/ 0 h 14"/>
                <a:gd name="p0x160" fmla="*/ 1384 w 8004"/>
                <a:gd name="p0y160" fmla="*/ 0 h 14"/>
                <a:gd name="p0x161" fmla="*/ 1413 w 8004"/>
                <a:gd name="p0y161" fmla="*/ 0 h 14"/>
                <a:gd name="p0x162" fmla="*/ 1413 w 8004"/>
                <a:gd name="p0y162" fmla="*/ 14 h 14"/>
                <a:gd name="p0x163" fmla="*/ 1384 w 8004"/>
                <a:gd name="p0y163" fmla="*/ 14 h 14"/>
                <a:gd name="p0x164" fmla="*/ 1384 w 8004"/>
                <a:gd name="p0y164" fmla="*/ 0 h 14"/>
                <a:gd name="p0x165" fmla="*/ 1428 w 8004"/>
                <a:gd name="p0y165" fmla="*/ 0 h 14"/>
                <a:gd name="p0x166" fmla="*/ 1457 w 8004"/>
                <a:gd name="p0y166" fmla="*/ 0 h 14"/>
                <a:gd name="p0x167" fmla="*/ 1457 w 8004"/>
                <a:gd name="p0y167" fmla="*/ 14 h 14"/>
                <a:gd name="p0x168" fmla="*/ 1428 w 8004"/>
                <a:gd name="p0y168" fmla="*/ 14 h 14"/>
                <a:gd name="p0x169" fmla="*/ 1428 w 8004"/>
                <a:gd name="p0y169" fmla="*/ 0 h 14"/>
                <a:gd name="p0x170" fmla="*/ 1472 w 8004"/>
                <a:gd name="p0y170" fmla="*/ 0 h 14"/>
                <a:gd name="p0x171" fmla="*/ 1502 w 8004"/>
                <a:gd name="p0y171" fmla="*/ 0 h 14"/>
                <a:gd name="p0x172" fmla="*/ 1502 w 8004"/>
                <a:gd name="p0y172" fmla="*/ 14 h 14"/>
                <a:gd name="p0x173" fmla="*/ 1472 w 8004"/>
                <a:gd name="p0y173" fmla="*/ 14 h 14"/>
                <a:gd name="p0x174" fmla="*/ 1472 w 8004"/>
                <a:gd name="p0y174" fmla="*/ 0 h 14"/>
                <a:gd name="p0x175" fmla="*/ 1516 w 8004"/>
                <a:gd name="p0y175" fmla="*/ 0 h 14"/>
                <a:gd name="p0x176" fmla="*/ 1546 w 8004"/>
                <a:gd name="p0y176" fmla="*/ 0 h 14"/>
                <a:gd name="p0x177" fmla="*/ 1546 w 8004"/>
                <a:gd name="p0y177" fmla="*/ 14 h 14"/>
                <a:gd name="p0x178" fmla="*/ 1516 w 8004"/>
                <a:gd name="p0y178" fmla="*/ 14 h 14"/>
                <a:gd name="p0x179" fmla="*/ 1516 w 8004"/>
                <a:gd name="p0y179" fmla="*/ 0 h 14"/>
                <a:gd name="p0x180" fmla="*/ 1560 w 8004"/>
                <a:gd name="p0y180" fmla="*/ 0 h 14"/>
                <a:gd name="p0x181" fmla="*/ 1590 w 8004"/>
                <a:gd name="p0y181" fmla="*/ 0 h 14"/>
                <a:gd name="p0x182" fmla="*/ 1590 w 8004"/>
                <a:gd name="p0y182" fmla="*/ 14 h 14"/>
                <a:gd name="p0x183" fmla="*/ 1560 w 8004"/>
                <a:gd name="p0y183" fmla="*/ 14 h 14"/>
                <a:gd name="p0x184" fmla="*/ 1560 w 8004"/>
                <a:gd name="p0y184" fmla="*/ 0 h 14"/>
                <a:gd name="p0x185" fmla="*/ 1604 w 8004"/>
                <a:gd name="p0y185" fmla="*/ 0 h 14"/>
                <a:gd name="p0x186" fmla="*/ 1634 w 8004"/>
                <a:gd name="p0y186" fmla="*/ 0 h 14"/>
                <a:gd name="p0x187" fmla="*/ 1634 w 8004"/>
                <a:gd name="p0y187" fmla="*/ 14 h 14"/>
                <a:gd name="p0x188" fmla="*/ 1604 w 8004"/>
                <a:gd name="p0y188" fmla="*/ 14 h 14"/>
                <a:gd name="p0x189" fmla="*/ 1604 w 8004"/>
                <a:gd name="p0y189" fmla="*/ 0 h 14"/>
                <a:gd name="p0x190" fmla="*/ 1649 w 8004"/>
                <a:gd name="p0y190" fmla="*/ 0 h 14"/>
                <a:gd name="p0x191" fmla="*/ 1678 w 8004"/>
                <a:gd name="p0y191" fmla="*/ 0 h 14"/>
                <a:gd name="p0x192" fmla="*/ 1678 w 8004"/>
                <a:gd name="p0y192" fmla="*/ 14 h 14"/>
                <a:gd name="p0x193" fmla="*/ 1649 w 8004"/>
                <a:gd name="p0y193" fmla="*/ 14 h 14"/>
                <a:gd name="p0x194" fmla="*/ 1649 w 8004"/>
                <a:gd name="p0y194" fmla="*/ 0 h 14"/>
                <a:gd name="p0x195" fmla="*/ 1693 w 8004"/>
                <a:gd name="p0y195" fmla="*/ 0 h 14"/>
                <a:gd name="p0x196" fmla="*/ 1722 w 8004"/>
                <a:gd name="p0y196" fmla="*/ 0 h 14"/>
                <a:gd name="p0x197" fmla="*/ 1722 w 8004"/>
                <a:gd name="p0y197" fmla="*/ 14 h 14"/>
                <a:gd name="p0x198" fmla="*/ 1693 w 8004"/>
                <a:gd name="p0y198" fmla="*/ 14 h 14"/>
                <a:gd name="p0x199" fmla="*/ 1693 w 8004"/>
                <a:gd name="p0y199" fmla="*/ 0 h 14"/>
                <a:gd name="p0x200" fmla="*/ 1737 w 8004"/>
                <a:gd name="p0y200" fmla="*/ 0 h 14"/>
                <a:gd name="p0x201" fmla="*/ 1766 w 8004"/>
                <a:gd name="p0y201" fmla="*/ 0 h 14"/>
                <a:gd name="p0x202" fmla="*/ 1766 w 8004"/>
                <a:gd name="p0y202" fmla="*/ 14 h 14"/>
                <a:gd name="p0x203" fmla="*/ 1737 w 8004"/>
                <a:gd name="p0y203" fmla="*/ 14 h 14"/>
                <a:gd name="p0x204" fmla="*/ 1737 w 8004"/>
                <a:gd name="p0y204" fmla="*/ 0 h 14"/>
                <a:gd name="p0x205" fmla="*/ 1781 w 8004"/>
                <a:gd name="p0y205" fmla="*/ 0 h 14"/>
                <a:gd name="p0x206" fmla="*/ 1810 w 8004"/>
                <a:gd name="p0y206" fmla="*/ 0 h 14"/>
                <a:gd name="p0x207" fmla="*/ 1810 w 8004"/>
                <a:gd name="p0y207" fmla="*/ 14 h 14"/>
                <a:gd name="p0x208" fmla="*/ 1781 w 8004"/>
                <a:gd name="p0y208" fmla="*/ 14 h 14"/>
                <a:gd name="p0x209" fmla="*/ 1781 w 8004"/>
                <a:gd name="p0y209" fmla="*/ 0 h 14"/>
                <a:gd name="p0x210" fmla="*/ 1825 w 8004"/>
                <a:gd name="p0y210" fmla="*/ 0 h 14"/>
                <a:gd name="p0x211" fmla="*/ 1854 w 8004"/>
                <a:gd name="p0y211" fmla="*/ 0 h 14"/>
                <a:gd name="p0x212" fmla="*/ 1854 w 8004"/>
                <a:gd name="p0y212" fmla="*/ 14 h 14"/>
                <a:gd name="p0x213" fmla="*/ 1825 w 8004"/>
                <a:gd name="p0y213" fmla="*/ 14 h 14"/>
                <a:gd name="p0x214" fmla="*/ 1825 w 8004"/>
                <a:gd name="p0y214" fmla="*/ 0 h 14"/>
                <a:gd name="p0x215" fmla="*/ 1869 w 8004"/>
                <a:gd name="p0y215" fmla="*/ 0 h 14"/>
                <a:gd name="p0x216" fmla="*/ 1899 w 8004"/>
                <a:gd name="p0y216" fmla="*/ 0 h 14"/>
                <a:gd name="p0x217" fmla="*/ 1899 w 8004"/>
                <a:gd name="p0y217" fmla="*/ 14 h 14"/>
                <a:gd name="p0x218" fmla="*/ 1869 w 8004"/>
                <a:gd name="p0y218" fmla="*/ 14 h 14"/>
                <a:gd name="p0x219" fmla="*/ 1869 w 8004"/>
                <a:gd name="p0y219" fmla="*/ 0 h 14"/>
                <a:gd name="p0x220" fmla="*/ 1913 w 8004"/>
                <a:gd name="p0y220" fmla="*/ 0 h 14"/>
                <a:gd name="p0x221" fmla="*/ 1943 w 8004"/>
                <a:gd name="p0y221" fmla="*/ 0 h 14"/>
                <a:gd name="p0x222" fmla="*/ 1943 w 8004"/>
                <a:gd name="p0y222" fmla="*/ 14 h 14"/>
                <a:gd name="p0x223" fmla="*/ 1913 w 8004"/>
                <a:gd name="p0y223" fmla="*/ 14 h 14"/>
                <a:gd name="p0x224" fmla="*/ 1913 w 8004"/>
                <a:gd name="p0y224" fmla="*/ 0 h 14"/>
                <a:gd name="p0x225" fmla="*/ 1957 w 8004"/>
                <a:gd name="p0y225" fmla="*/ 0 h 14"/>
                <a:gd name="p0x226" fmla="*/ 1987 w 8004"/>
                <a:gd name="p0y226" fmla="*/ 0 h 14"/>
                <a:gd name="p0x227" fmla="*/ 1987 w 8004"/>
                <a:gd name="p0y227" fmla="*/ 14 h 14"/>
                <a:gd name="p0x228" fmla="*/ 1957 w 8004"/>
                <a:gd name="p0y228" fmla="*/ 14 h 14"/>
                <a:gd name="p0x229" fmla="*/ 1957 w 8004"/>
                <a:gd name="p0y229" fmla="*/ 0 h 14"/>
                <a:gd name="p0x230" fmla="*/ 2002 w 8004"/>
                <a:gd name="p0y230" fmla="*/ 0 h 14"/>
                <a:gd name="p0x231" fmla="*/ 2031 w 8004"/>
                <a:gd name="p0y231" fmla="*/ 0 h 14"/>
                <a:gd name="p0x232" fmla="*/ 2031 w 8004"/>
                <a:gd name="p0y232" fmla="*/ 14 h 14"/>
                <a:gd name="p0x233" fmla="*/ 2002 w 8004"/>
                <a:gd name="p0y233" fmla="*/ 14 h 14"/>
                <a:gd name="p0x234" fmla="*/ 2002 w 8004"/>
                <a:gd name="p0y234" fmla="*/ 0 h 14"/>
                <a:gd name="p0x235" fmla="*/ 2046 w 8004"/>
                <a:gd name="p0y235" fmla="*/ 0 h 14"/>
                <a:gd name="p0x236" fmla="*/ 2075 w 8004"/>
                <a:gd name="p0y236" fmla="*/ 0 h 14"/>
                <a:gd name="p0x237" fmla="*/ 2075 w 8004"/>
                <a:gd name="p0y237" fmla="*/ 14 h 14"/>
                <a:gd name="p0x238" fmla="*/ 2046 w 8004"/>
                <a:gd name="p0y238" fmla="*/ 14 h 14"/>
                <a:gd name="p0x239" fmla="*/ 2046 w 8004"/>
                <a:gd name="p0y239" fmla="*/ 0 h 14"/>
                <a:gd name="p0x240" fmla="*/ 2090 w 8004"/>
                <a:gd name="p0y240" fmla="*/ 0 h 14"/>
                <a:gd name="p0x241" fmla="*/ 2119 w 8004"/>
                <a:gd name="p0y241" fmla="*/ 0 h 14"/>
                <a:gd name="p0x242" fmla="*/ 2119 w 8004"/>
                <a:gd name="p0y242" fmla="*/ 14 h 14"/>
                <a:gd name="p0x243" fmla="*/ 2090 w 8004"/>
                <a:gd name="p0y243" fmla="*/ 14 h 14"/>
                <a:gd name="p0x244" fmla="*/ 2090 w 8004"/>
                <a:gd name="p0y244" fmla="*/ 0 h 14"/>
                <a:gd name="p0x245" fmla="*/ 2134 w 8004"/>
                <a:gd name="p0y245" fmla="*/ 0 h 14"/>
                <a:gd name="p0x246" fmla="*/ 2163 w 8004"/>
                <a:gd name="p0y246" fmla="*/ 0 h 14"/>
                <a:gd name="p0x247" fmla="*/ 2163 w 8004"/>
                <a:gd name="p0y247" fmla="*/ 14 h 14"/>
                <a:gd name="p0x248" fmla="*/ 2134 w 8004"/>
                <a:gd name="p0y248" fmla="*/ 14 h 14"/>
                <a:gd name="p0x249" fmla="*/ 2134 w 8004"/>
                <a:gd name="p0y249" fmla="*/ 0 h 14"/>
                <a:gd name="p0x250" fmla="*/ 2178 w 8004"/>
                <a:gd name="p0y250" fmla="*/ 0 h 14"/>
                <a:gd name="p0x251" fmla="*/ 2207 w 8004"/>
                <a:gd name="p0y251" fmla="*/ 0 h 14"/>
                <a:gd name="p0x252" fmla="*/ 2207 w 8004"/>
                <a:gd name="p0y252" fmla="*/ 14 h 14"/>
                <a:gd name="p0x253" fmla="*/ 2178 w 8004"/>
                <a:gd name="p0y253" fmla="*/ 14 h 14"/>
                <a:gd name="p0x254" fmla="*/ 2178 w 8004"/>
                <a:gd name="p0y254" fmla="*/ 0 h 14"/>
                <a:gd name="p0x255" fmla="*/ 2222 w 8004"/>
                <a:gd name="p0y255" fmla="*/ 0 h 14"/>
                <a:gd name="p0x256" fmla="*/ 2252 w 8004"/>
                <a:gd name="p0y256" fmla="*/ 0 h 14"/>
                <a:gd name="p0x257" fmla="*/ 2252 w 8004"/>
                <a:gd name="p0y257" fmla="*/ 14 h 14"/>
                <a:gd name="p0x258" fmla="*/ 2222 w 8004"/>
                <a:gd name="p0y258" fmla="*/ 14 h 14"/>
                <a:gd name="p0x259" fmla="*/ 2222 w 8004"/>
                <a:gd name="p0y259" fmla="*/ 0 h 14"/>
                <a:gd name="p0x260" fmla="*/ 2266 w 8004"/>
                <a:gd name="p0y260" fmla="*/ 0 h 14"/>
                <a:gd name="p0x261" fmla="*/ 2296 w 8004"/>
                <a:gd name="p0y261" fmla="*/ 0 h 14"/>
                <a:gd name="p0x262" fmla="*/ 2296 w 8004"/>
                <a:gd name="p0y262" fmla="*/ 14 h 14"/>
                <a:gd name="p0x263" fmla="*/ 2266 w 8004"/>
                <a:gd name="p0y263" fmla="*/ 14 h 14"/>
                <a:gd name="p0x264" fmla="*/ 2266 w 8004"/>
                <a:gd name="p0y264" fmla="*/ 0 h 14"/>
                <a:gd name="p0x265" fmla="*/ 2310 w 8004"/>
                <a:gd name="p0y265" fmla="*/ 0 h 14"/>
                <a:gd name="p0x266" fmla="*/ 2340 w 8004"/>
                <a:gd name="p0y266" fmla="*/ 0 h 14"/>
                <a:gd name="p0x267" fmla="*/ 2340 w 8004"/>
                <a:gd name="p0y267" fmla="*/ 14 h 14"/>
                <a:gd name="p0x268" fmla="*/ 2310 w 8004"/>
                <a:gd name="p0y268" fmla="*/ 14 h 14"/>
                <a:gd name="p0x269" fmla="*/ 2310 w 8004"/>
                <a:gd name="p0y269" fmla="*/ 0 h 14"/>
                <a:gd name="p0x270" fmla="*/ 2354 w 8004"/>
                <a:gd name="p0y270" fmla="*/ 0 h 14"/>
                <a:gd name="p0x271" fmla="*/ 2384 w 8004"/>
                <a:gd name="p0y271" fmla="*/ 0 h 14"/>
                <a:gd name="p0x272" fmla="*/ 2384 w 8004"/>
                <a:gd name="p0y272" fmla="*/ 14 h 14"/>
                <a:gd name="p0x273" fmla="*/ 2354 w 8004"/>
                <a:gd name="p0y273" fmla="*/ 14 h 14"/>
                <a:gd name="p0x274" fmla="*/ 2354 w 8004"/>
                <a:gd name="p0y274" fmla="*/ 0 h 14"/>
                <a:gd name="p0x275" fmla="*/ 2399 w 8004"/>
                <a:gd name="p0y275" fmla="*/ 0 h 14"/>
                <a:gd name="p0x276" fmla="*/ 2428 w 8004"/>
                <a:gd name="p0y276" fmla="*/ 0 h 14"/>
                <a:gd name="p0x277" fmla="*/ 2428 w 8004"/>
                <a:gd name="p0y277" fmla="*/ 14 h 14"/>
                <a:gd name="p0x278" fmla="*/ 2399 w 8004"/>
                <a:gd name="p0y278" fmla="*/ 14 h 14"/>
                <a:gd name="p0x279" fmla="*/ 2399 w 8004"/>
                <a:gd name="p0y279" fmla="*/ 0 h 14"/>
                <a:gd name="p0x280" fmla="*/ 2443 w 8004"/>
                <a:gd name="p0y280" fmla="*/ 0 h 14"/>
                <a:gd name="p0x281" fmla="*/ 2472 w 8004"/>
                <a:gd name="p0y281" fmla="*/ 0 h 14"/>
                <a:gd name="p0x282" fmla="*/ 2472 w 8004"/>
                <a:gd name="p0y282" fmla="*/ 14 h 14"/>
                <a:gd name="p0x283" fmla="*/ 2443 w 8004"/>
                <a:gd name="p0y283" fmla="*/ 14 h 14"/>
                <a:gd name="p0x284" fmla="*/ 2443 w 8004"/>
                <a:gd name="p0y284" fmla="*/ 0 h 14"/>
                <a:gd name="p0x285" fmla="*/ 2487 w 8004"/>
                <a:gd name="p0y285" fmla="*/ 0 h 14"/>
                <a:gd name="p0x286" fmla="*/ 2516 w 8004"/>
                <a:gd name="p0y286" fmla="*/ 0 h 14"/>
                <a:gd name="p0x287" fmla="*/ 2516 w 8004"/>
                <a:gd name="p0y287" fmla="*/ 14 h 14"/>
                <a:gd name="p0x288" fmla="*/ 2487 w 8004"/>
                <a:gd name="p0y288" fmla="*/ 14 h 14"/>
                <a:gd name="p0x289" fmla="*/ 2487 w 8004"/>
                <a:gd name="p0y289" fmla="*/ 0 h 14"/>
                <a:gd name="p0x290" fmla="*/ 2531 w 8004"/>
                <a:gd name="p0y290" fmla="*/ 0 h 14"/>
                <a:gd name="p0x291" fmla="*/ 2560 w 8004"/>
                <a:gd name="p0y291" fmla="*/ 0 h 14"/>
                <a:gd name="p0x292" fmla="*/ 2560 w 8004"/>
                <a:gd name="p0y292" fmla="*/ 14 h 14"/>
                <a:gd name="p0x293" fmla="*/ 2531 w 8004"/>
                <a:gd name="p0y293" fmla="*/ 14 h 14"/>
                <a:gd name="p0x294" fmla="*/ 2531 w 8004"/>
                <a:gd name="p0y294" fmla="*/ 0 h 14"/>
                <a:gd name="p0x295" fmla="*/ 2575 w 8004"/>
                <a:gd name="p0y295" fmla="*/ 0 h 14"/>
                <a:gd name="p0x296" fmla="*/ 2604 w 8004"/>
                <a:gd name="p0y296" fmla="*/ 0 h 14"/>
                <a:gd name="p0x297" fmla="*/ 2604 w 8004"/>
                <a:gd name="p0y297" fmla="*/ 14 h 14"/>
                <a:gd name="p0x298" fmla="*/ 2575 w 8004"/>
                <a:gd name="p0y298" fmla="*/ 14 h 14"/>
                <a:gd name="p0x299" fmla="*/ 2575 w 8004"/>
                <a:gd name="p0y299" fmla="*/ 0 h 14"/>
                <a:gd name="p0x300" fmla="*/ 2619 w 8004"/>
                <a:gd name="p0y300" fmla="*/ 0 h 14"/>
                <a:gd name="p0x301" fmla="*/ 2649 w 8004"/>
                <a:gd name="p0y301" fmla="*/ 0 h 14"/>
                <a:gd name="p0x302" fmla="*/ 2649 w 8004"/>
                <a:gd name="p0y302" fmla="*/ 14 h 14"/>
                <a:gd name="p0x303" fmla="*/ 2619 w 8004"/>
                <a:gd name="p0y303" fmla="*/ 14 h 14"/>
                <a:gd name="p0x304" fmla="*/ 2619 w 8004"/>
                <a:gd name="p0y304" fmla="*/ 0 h 14"/>
                <a:gd name="p0x305" fmla="*/ 2663 w 8004"/>
                <a:gd name="p0y305" fmla="*/ 0 h 14"/>
                <a:gd name="p0x306" fmla="*/ 2693 w 8004"/>
                <a:gd name="p0y306" fmla="*/ 0 h 14"/>
                <a:gd name="p0x307" fmla="*/ 2693 w 8004"/>
                <a:gd name="p0y307" fmla="*/ 14 h 14"/>
                <a:gd name="p0x308" fmla="*/ 2663 w 8004"/>
                <a:gd name="p0y308" fmla="*/ 14 h 14"/>
                <a:gd name="p0x309" fmla="*/ 2663 w 8004"/>
                <a:gd name="p0y309" fmla="*/ 0 h 14"/>
                <a:gd name="p0x310" fmla="*/ 2707 w 8004"/>
                <a:gd name="p0y310" fmla="*/ 0 h 14"/>
                <a:gd name="p0x311" fmla="*/ 2737 w 8004"/>
                <a:gd name="p0y311" fmla="*/ 0 h 14"/>
                <a:gd name="p0x312" fmla="*/ 2737 w 8004"/>
                <a:gd name="p0y312" fmla="*/ 14 h 14"/>
                <a:gd name="p0x313" fmla="*/ 2707 w 8004"/>
                <a:gd name="p0y313" fmla="*/ 14 h 14"/>
                <a:gd name="p0x314" fmla="*/ 2707 w 8004"/>
                <a:gd name="p0y314" fmla="*/ 0 h 14"/>
                <a:gd name="p0x315" fmla="*/ 2752 w 8004"/>
                <a:gd name="p0y315" fmla="*/ 0 h 14"/>
                <a:gd name="p0x316" fmla="*/ 2781 w 8004"/>
                <a:gd name="p0y316" fmla="*/ 0 h 14"/>
                <a:gd name="p0x317" fmla="*/ 2781 w 8004"/>
                <a:gd name="p0y317" fmla="*/ 14 h 14"/>
                <a:gd name="p0x318" fmla="*/ 2752 w 8004"/>
                <a:gd name="p0y318" fmla="*/ 14 h 14"/>
                <a:gd name="p0x319" fmla="*/ 2752 w 8004"/>
                <a:gd name="p0y319" fmla="*/ 0 h 14"/>
                <a:gd name="p0x320" fmla="*/ 2796 w 8004"/>
                <a:gd name="p0y320" fmla="*/ 0 h 14"/>
                <a:gd name="p0x321" fmla="*/ 2825 w 8004"/>
                <a:gd name="p0y321" fmla="*/ 0 h 14"/>
                <a:gd name="p0x322" fmla="*/ 2825 w 8004"/>
                <a:gd name="p0y322" fmla="*/ 14 h 14"/>
                <a:gd name="p0x323" fmla="*/ 2796 w 8004"/>
                <a:gd name="p0y323" fmla="*/ 14 h 14"/>
                <a:gd name="p0x324" fmla="*/ 2796 w 8004"/>
                <a:gd name="p0y324" fmla="*/ 0 h 14"/>
                <a:gd name="p0x325" fmla="*/ 2840 w 8004"/>
                <a:gd name="p0y325" fmla="*/ 0 h 14"/>
                <a:gd name="p0x326" fmla="*/ 2869 w 8004"/>
                <a:gd name="p0y326" fmla="*/ 0 h 14"/>
                <a:gd name="p0x327" fmla="*/ 2869 w 8004"/>
                <a:gd name="p0y327" fmla="*/ 14 h 14"/>
                <a:gd name="p0x328" fmla="*/ 2840 w 8004"/>
                <a:gd name="p0y328" fmla="*/ 14 h 14"/>
                <a:gd name="p0x329" fmla="*/ 2840 w 8004"/>
                <a:gd name="p0y329" fmla="*/ 0 h 14"/>
                <a:gd name="p0x330" fmla="*/ 2884 w 8004"/>
                <a:gd name="p0y330" fmla="*/ 0 h 14"/>
                <a:gd name="p0x331" fmla="*/ 2913 w 8004"/>
                <a:gd name="p0y331" fmla="*/ 0 h 14"/>
                <a:gd name="p0x332" fmla="*/ 2913 w 8004"/>
                <a:gd name="p0y332" fmla="*/ 14 h 14"/>
                <a:gd name="p0x333" fmla="*/ 2884 w 8004"/>
                <a:gd name="p0y333" fmla="*/ 14 h 14"/>
                <a:gd name="p0x334" fmla="*/ 2884 w 8004"/>
                <a:gd name="p0y334" fmla="*/ 0 h 14"/>
                <a:gd name="p0x335" fmla="*/ 2928 w 8004"/>
                <a:gd name="p0y335" fmla="*/ 0 h 14"/>
                <a:gd name="p0x336" fmla="*/ 2957 w 8004"/>
                <a:gd name="p0y336" fmla="*/ 0 h 14"/>
                <a:gd name="p0x337" fmla="*/ 2957 w 8004"/>
                <a:gd name="p0y337" fmla="*/ 14 h 14"/>
                <a:gd name="p0x338" fmla="*/ 2928 w 8004"/>
                <a:gd name="p0y338" fmla="*/ 14 h 14"/>
                <a:gd name="p0x339" fmla="*/ 2928 w 8004"/>
                <a:gd name="p0y339" fmla="*/ 0 h 14"/>
                <a:gd name="p0x340" fmla="*/ 2972 w 8004"/>
                <a:gd name="p0y340" fmla="*/ 0 h 14"/>
                <a:gd name="p0x341" fmla="*/ 3002 w 8004"/>
                <a:gd name="p0y341" fmla="*/ 0 h 14"/>
                <a:gd name="p0x342" fmla="*/ 3002 w 8004"/>
                <a:gd name="p0y342" fmla="*/ 14 h 14"/>
                <a:gd name="p0x343" fmla="*/ 2972 w 8004"/>
                <a:gd name="p0y343" fmla="*/ 14 h 14"/>
                <a:gd name="p0x344" fmla="*/ 2972 w 8004"/>
                <a:gd name="p0y344" fmla="*/ 0 h 14"/>
                <a:gd name="p0x345" fmla="*/ 3016 w 8004"/>
                <a:gd name="p0y345" fmla="*/ 0 h 14"/>
                <a:gd name="p0x346" fmla="*/ 3046 w 8004"/>
                <a:gd name="p0y346" fmla="*/ 0 h 14"/>
                <a:gd name="p0x347" fmla="*/ 3046 w 8004"/>
                <a:gd name="p0y347" fmla="*/ 14 h 14"/>
                <a:gd name="p0x348" fmla="*/ 3016 w 8004"/>
                <a:gd name="p0y348" fmla="*/ 14 h 14"/>
                <a:gd name="p0x349" fmla="*/ 3016 w 8004"/>
                <a:gd name="p0y349" fmla="*/ 0 h 14"/>
                <a:gd name="p0x350" fmla="*/ 3060 w 8004"/>
                <a:gd name="p0y350" fmla="*/ 0 h 14"/>
                <a:gd name="p0x351" fmla="*/ 3090 w 8004"/>
                <a:gd name="p0y351" fmla="*/ 0 h 14"/>
                <a:gd name="p0x352" fmla="*/ 3090 w 8004"/>
                <a:gd name="p0y352" fmla="*/ 14 h 14"/>
                <a:gd name="p0x353" fmla="*/ 3060 w 8004"/>
                <a:gd name="p0y353" fmla="*/ 14 h 14"/>
                <a:gd name="p0x354" fmla="*/ 3060 w 8004"/>
                <a:gd name="p0y354" fmla="*/ 0 h 14"/>
                <a:gd name="p0x355" fmla="*/ 3104 w 8004"/>
                <a:gd name="p0y355" fmla="*/ 0 h 14"/>
                <a:gd name="p0x356" fmla="*/ 3134 w 8004"/>
                <a:gd name="p0y356" fmla="*/ 0 h 14"/>
                <a:gd name="p0x357" fmla="*/ 3134 w 8004"/>
                <a:gd name="p0y357" fmla="*/ 14 h 14"/>
                <a:gd name="p0x358" fmla="*/ 3104 w 8004"/>
                <a:gd name="p0y358" fmla="*/ 14 h 14"/>
                <a:gd name="p0x359" fmla="*/ 3104 w 8004"/>
                <a:gd name="p0y359" fmla="*/ 0 h 14"/>
                <a:gd name="p0x360" fmla="*/ 3149 w 8004"/>
                <a:gd name="p0y360" fmla="*/ 0 h 14"/>
                <a:gd name="p0x361" fmla="*/ 3178 w 8004"/>
                <a:gd name="p0y361" fmla="*/ 0 h 14"/>
                <a:gd name="p0x362" fmla="*/ 3178 w 8004"/>
                <a:gd name="p0y362" fmla="*/ 14 h 14"/>
                <a:gd name="p0x363" fmla="*/ 3149 w 8004"/>
                <a:gd name="p0y363" fmla="*/ 14 h 14"/>
                <a:gd name="p0x364" fmla="*/ 3149 w 8004"/>
                <a:gd name="p0y364" fmla="*/ 0 h 14"/>
                <a:gd name="p0x365" fmla="*/ 3193 w 8004"/>
                <a:gd name="p0y365" fmla="*/ 0 h 14"/>
                <a:gd name="p0x366" fmla="*/ 3222 w 8004"/>
                <a:gd name="p0y366" fmla="*/ 0 h 14"/>
                <a:gd name="p0x367" fmla="*/ 3222 w 8004"/>
                <a:gd name="p0y367" fmla="*/ 14 h 14"/>
                <a:gd name="p0x368" fmla="*/ 3193 w 8004"/>
                <a:gd name="p0y368" fmla="*/ 14 h 14"/>
                <a:gd name="p0x369" fmla="*/ 3193 w 8004"/>
                <a:gd name="p0y369" fmla="*/ 0 h 14"/>
                <a:gd name="p0x370" fmla="*/ 3237 w 8004"/>
                <a:gd name="p0y370" fmla="*/ 0 h 14"/>
                <a:gd name="p0x371" fmla="*/ 3266 w 8004"/>
                <a:gd name="p0y371" fmla="*/ 0 h 14"/>
                <a:gd name="p0x372" fmla="*/ 3266 w 8004"/>
                <a:gd name="p0y372" fmla="*/ 14 h 14"/>
                <a:gd name="p0x373" fmla="*/ 3237 w 8004"/>
                <a:gd name="p0y373" fmla="*/ 14 h 14"/>
                <a:gd name="p0x374" fmla="*/ 3237 w 8004"/>
                <a:gd name="p0y374" fmla="*/ 0 h 14"/>
                <a:gd name="p0x375" fmla="*/ 3281 w 8004"/>
                <a:gd name="p0y375" fmla="*/ 0 h 14"/>
                <a:gd name="p0x376" fmla="*/ 3310 w 8004"/>
                <a:gd name="p0y376" fmla="*/ 0 h 14"/>
                <a:gd name="p0x377" fmla="*/ 3310 w 8004"/>
                <a:gd name="p0y377" fmla="*/ 14 h 14"/>
                <a:gd name="p0x378" fmla="*/ 3281 w 8004"/>
                <a:gd name="p0y378" fmla="*/ 14 h 14"/>
                <a:gd name="p0x379" fmla="*/ 3281 w 8004"/>
                <a:gd name="p0y379" fmla="*/ 0 h 14"/>
                <a:gd name="p0x380" fmla="*/ 3325 w 8004"/>
                <a:gd name="p0y380" fmla="*/ 0 h 14"/>
                <a:gd name="p0x381" fmla="*/ 3354 w 8004"/>
                <a:gd name="p0y381" fmla="*/ 0 h 14"/>
                <a:gd name="p0x382" fmla="*/ 3354 w 8004"/>
                <a:gd name="p0y382" fmla="*/ 14 h 14"/>
                <a:gd name="p0x383" fmla="*/ 3325 w 8004"/>
                <a:gd name="p0y383" fmla="*/ 14 h 14"/>
                <a:gd name="p0x384" fmla="*/ 3325 w 8004"/>
                <a:gd name="p0y384" fmla="*/ 0 h 14"/>
                <a:gd name="p0x385" fmla="*/ 3369 w 8004"/>
                <a:gd name="p0y385" fmla="*/ 0 h 14"/>
                <a:gd name="p0x386" fmla="*/ 3399 w 8004"/>
                <a:gd name="p0y386" fmla="*/ 0 h 14"/>
                <a:gd name="p0x387" fmla="*/ 3399 w 8004"/>
                <a:gd name="p0y387" fmla="*/ 14 h 14"/>
                <a:gd name="p0x388" fmla="*/ 3369 w 8004"/>
                <a:gd name="p0y388" fmla="*/ 14 h 14"/>
                <a:gd name="p0x389" fmla="*/ 3369 w 8004"/>
                <a:gd name="p0y389" fmla="*/ 0 h 14"/>
                <a:gd name="p0x390" fmla="*/ 3413 w 8004"/>
                <a:gd name="p0y390" fmla="*/ 0 h 14"/>
                <a:gd name="p0x391" fmla="*/ 3443 w 8004"/>
                <a:gd name="p0y391" fmla="*/ 0 h 14"/>
                <a:gd name="p0x392" fmla="*/ 3443 w 8004"/>
                <a:gd name="p0y392" fmla="*/ 14 h 14"/>
                <a:gd name="p0x393" fmla="*/ 3413 w 8004"/>
                <a:gd name="p0y393" fmla="*/ 14 h 14"/>
                <a:gd name="p0x394" fmla="*/ 3413 w 8004"/>
                <a:gd name="p0y394" fmla="*/ 0 h 14"/>
                <a:gd name="p0x395" fmla="*/ 3457 w 8004"/>
                <a:gd name="p0y395" fmla="*/ 0 h 14"/>
                <a:gd name="p0x396" fmla="*/ 3487 w 8004"/>
                <a:gd name="p0y396" fmla="*/ 0 h 14"/>
                <a:gd name="p0x397" fmla="*/ 3487 w 8004"/>
                <a:gd name="p0y397" fmla="*/ 14 h 14"/>
                <a:gd name="p0x398" fmla="*/ 3457 w 8004"/>
                <a:gd name="p0y398" fmla="*/ 14 h 14"/>
                <a:gd name="p0x399" fmla="*/ 3457 w 8004"/>
                <a:gd name="p0y399" fmla="*/ 0 h 14"/>
                <a:gd name="p0x400" fmla="*/ 3502 w 8004"/>
                <a:gd name="p0y400" fmla="*/ 0 h 14"/>
                <a:gd name="p0x401" fmla="*/ 3531 w 8004"/>
                <a:gd name="p0y401" fmla="*/ 0 h 14"/>
                <a:gd name="p0x402" fmla="*/ 3531 w 8004"/>
                <a:gd name="p0y402" fmla="*/ 14 h 14"/>
                <a:gd name="p0x403" fmla="*/ 3502 w 8004"/>
                <a:gd name="p0y403" fmla="*/ 14 h 14"/>
                <a:gd name="p0x404" fmla="*/ 3502 w 8004"/>
                <a:gd name="p0y404" fmla="*/ 0 h 14"/>
                <a:gd name="p0x405" fmla="*/ 3546 w 8004"/>
                <a:gd name="p0y405" fmla="*/ 0 h 14"/>
                <a:gd name="p0x406" fmla="*/ 3575 w 8004"/>
                <a:gd name="p0y406" fmla="*/ 0 h 14"/>
                <a:gd name="p0x407" fmla="*/ 3575 w 8004"/>
                <a:gd name="p0y407" fmla="*/ 14 h 14"/>
                <a:gd name="p0x408" fmla="*/ 3546 w 8004"/>
                <a:gd name="p0y408" fmla="*/ 14 h 14"/>
                <a:gd name="p0x409" fmla="*/ 3546 w 8004"/>
                <a:gd name="p0y409" fmla="*/ 0 h 14"/>
                <a:gd name="p0x410" fmla="*/ 3590 w 8004"/>
                <a:gd name="p0y410" fmla="*/ 0 h 14"/>
                <a:gd name="p0x411" fmla="*/ 3619 w 8004"/>
                <a:gd name="p0y411" fmla="*/ 0 h 14"/>
                <a:gd name="p0x412" fmla="*/ 3619 w 8004"/>
                <a:gd name="p0y412" fmla="*/ 14 h 14"/>
                <a:gd name="p0x413" fmla="*/ 3590 w 8004"/>
                <a:gd name="p0y413" fmla="*/ 14 h 14"/>
                <a:gd name="p0x414" fmla="*/ 3590 w 8004"/>
                <a:gd name="p0y414" fmla="*/ 0 h 14"/>
                <a:gd name="p0x415" fmla="*/ 3634 w 8004"/>
                <a:gd name="p0y415" fmla="*/ 0 h 14"/>
                <a:gd name="p0x416" fmla="*/ 3663 w 8004"/>
                <a:gd name="p0y416" fmla="*/ 0 h 14"/>
                <a:gd name="p0x417" fmla="*/ 3663 w 8004"/>
                <a:gd name="p0y417" fmla="*/ 14 h 14"/>
                <a:gd name="p0x418" fmla="*/ 3634 w 8004"/>
                <a:gd name="p0y418" fmla="*/ 14 h 14"/>
                <a:gd name="p0x419" fmla="*/ 3634 w 8004"/>
                <a:gd name="p0y419" fmla="*/ 0 h 14"/>
                <a:gd name="p0x420" fmla="*/ 3678 w 8004"/>
                <a:gd name="p0y420" fmla="*/ 0 h 14"/>
                <a:gd name="p0x421" fmla="*/ 3707 w 8004"/>
                <a:gd name="p0y421" fmla="*/ 0 h 14"/>
                <a:gd name="p0x422" fmla="*/ 3707 w 8004"/>
                <a:gd name="p0y422" fmla="*/ 14 h 14"/>
                <a:gd name="p0x423" fmla="*/ 3678 w 8004"/>
                <a:gd name="p0y423" fmla="*/ 14 h 14"/>
                <a:gd name="p0x424" fmla="*/ 3678 w 8004"/>
                <a:gd name="p0y424" fmla="*/ 0 h 14"/>
                <a:gd name="p0x425" fmla="*/ 3722 w 8004"/>
                <a:gd name="p0y425" fmla="*/ 0 h 14"/>
                <a:gd name="p0x426" fmla="*/ 3752 w 8004"/>
                <a:gd name="p0y426" fmla="*/ 0 h 14"/>
                <a:gd name="p0x427" fmla="*/ 3752 w 8004"/>
                <a:gd name="p0y427" fmla="*/ 14 h 14"/>
                <a:gd name="p0x428" fmla="*/ 3722 w 8004"/>
                <a:gd name="p0y428" fmla="*/ 14 h 14"/>
                <a:gd name="p0x429" fmla="*/ 3722 w 8004"/>
                <a:gd name="p0y429" fmla="*/ 0 h 14"/>
                <a:gd name="p0x430" fmla="*/ 3766 w 8004"/>
                <a:gd name="p0y430" fmla="*/ 0 h 14"/>
                <a:gd name="p0x431" fmla="*/ 3796 w 8004"/>
                <a:gd name="p0y431" fmla="*/ 0 h 14"/>
                <a:gd name="p0x432" fmla="*/ 3796 w 8004"/>
                <a:gd name="p0y432" fmla="*/ 14 h 14"/>
                <a:gd name="p0x433" fmla="*/ 3766 w 8004"/>
                <a:gd name="p0y433" fmla="*/ 14 h 14"/>
                <a:gd name="p0x434" fmla="*/ 3766 w 8004"/>
                <a:gd name="p0y434" fmla="*/ 0 h 14"/>
                <a:gd name="p0x435" fmla="*/ 3810 w 8004"/>
                <a:gd name="p0y435" fmla="*/ 0 h 14"/>
                <a:gd name="p0x436" fmla="*/ 3840 w 8004"/>
                <a:gd name="p0y436" fmla="*/ 0 h 14"/>
                <a:gd name="p0x437" fmla="*/ 3840 w 8004"/>
                <a:gd name="p0y437" fmla="*/ 14 h 14"/>
                <a:gd name="p0x438" fmla="*/ 3810 w 8004"/>
                <a:gd name="p0y438" fmla="*/ 14 h 14"/>
                <a:gd name="p0x439" fmla="*/ 3810 w 8004"/>
                <a:gd name="p0y439" fmla="*/ 0 h 14"/>
                <a:gd name="p0x440" fmla="*/ 3854 w 8004"/>
                <a:gd name="p0y440" fmla="*/ 0 h 14"/>
                <a:gd name="p0x441" fmla="*/ 3884 w 8004"/>
                <a:gd name="p0y441" fmla="*/ 0 h 14"/>
                <a:gd name="p0x442" fmla="*/ 3884 w 8004"/>
                <a:gd name="p0y442" fmla="*/ 14 h 14"/>
                <a:gd name="p0x443" fmla="*/ 3854 w 8004"/>
                <a:gd name="p0y443" fmla="*/ 14 h 14"/>
                <a:gd name="p0x444" fmla="*/ 3854 w 8004"/>
                <a:gd name="p0y444" fmla="*/ 0 h 14"/>
                <a:gd name="p0x445" fmla="*/ 3899 w 8004"/>
                <a:gd name="p0y445" fmla="*/ 0 h 14"/>
                <a:gd name="p0x446" fmla="*/ 3928 w 8004"/>
                <a:gd name="p0y446" fmla="*/ 0 h 14"/>
                <a:gd name="p0x447" fmla="*/ 3928 w 8004"/>
                <a:gd name="p0y447" fmla="*/ 14 h 14"/>
                <a:gd name="p0x448" fmla="*/ 3899 w 8004"/>
                <a:gd name="p0y448" fmla="*/ 14 h 14"/>
                <a:gd name="p0x449" fmla="*/ 3899 w 8004"/>
                <a:gd name="p0y449" fmla="*/ 0 h 14"/>
                <a:gd name="p0x450" fmla="*/ 3943 w 8004"/>
                <a:gd name="p0y450" fmla="*/ 0 h 14"/>
                <a:gd name="p0x451" fmla="*/ 3972 w 8004"/>
                <a:gd name="p0y451" fmla="*/ 0 h 14"/>
                <a:gd name="p0x452" fmla="*/ 3972 w 8004"/>
                <a:gd name="p0y452" fmla="*/ 14 h 14"/>
                <a:gd name="p0x453" fmla="*/ 3943 w 8004"/>
                <a:gd name="p0y453" fmla="*/ 14 h 14"/>
                <a:gd name="p0x454" fmla="*/ 3943 w 8004"/>
                <a:gd name="p0y454" fmla="*/ 0 h 14"/>
                <a:gd name="p0x455" fmla="*/ 3987 w 8004"/>
                <a:gd name="p0y455" fmla="*/ 0 h 14"/>
                <a:gd name="p0x456" fmla="*/ 4016 w 8004"/>
                <a:gd name="p0y456" fmla="*/ 0 h 14"/>
                <a:gd name="p0x457" fmla="*/ 4016 w 8004"/>
                <a:gd name="p0y457" fmla="*/ 14 h 14"/>
                <a:gd name="p0x458" fmla="*/ 3987 w 8004"/>
                <a:gd name="p0y458" fmla="*/ 14 h 14"/>
                <a:gd name="p0x459" fmla="*/ 3987 w 8004"/>
                <a:gd name="p0y459" fmla="*/ 0 h 14"/>
                <a:gd name="p0x460" fmla="*/ 4031 w 8004"/>
                <a:gd name="p0y460" fmla="*/ 0 h 14"/>
                <a:gd name="p0x461" fmla="*/ 4060 w 8004"/>
                <a:gd name="p0y461" fmla="*/ 0 h 14"/>
                <a:gd name="p0x462" fmla="*/ 4060 w 8004"/>
                <a:gd name="p0y462" fmla="*/ 14 h 14"/>
                <a:gd name="p0x463" fmla="*/ 4031 w 8004"/>
                <a:gd name="p0y463" fmla="*/ 14 h 14"/>
                <a:gd name="p0x464" fmla="*/ 4031 w 8004"/>
                <a:gd name="p0y464" fmla="*/ 0 h 14"/>
                <a:gd name="p0x465" fmla="*/ 4075 w 8004"/>
                <a:gd name="p0y465" fmla="*/ 0 h 14"/>
                <a:gd name="p0x466" fmla="*/ 4104 w 8004"/>
                <a:gd name="p0y466" fmla="*/ 0 h 14"/>
                <a:gd name="p0x467" fmla="*/ 4104 w 8004"/>
                <a:gd name="p0y467" fmla="*/ 14 h 14"/>
                <a:gd name="p0x468" fmla="*/ 4075 w 8004"/>
                <a:gd name="p0y468" fmla="*/ 14 h 14"/>
                <a:gd name="p0x469" fmla="*/ 4075 w 8004"/>
                <a:gd name="p0y469" fmla="*/ 0 h 14"/>
                <a:gd name="p0x470" fmla="*/ 4119 w 8004"/>
                <a:gd name="p0y470" fmla="*/ 0 h 14"/>
                <a:gd name="p0x471" fmla="*/ 4149 w 8004"/>
                <a:gd name="p0y471" fmla="*/ 0 h 14"/>
                <a:gd name="p0x472" fmla="*/ 4149 w 8004"/>
                <a:gd name="p0y472" fmla="*/ 14 h 14"/>
                <a:gd name="p0x473" fmla="*/ 4119 w 8004"/>
                <a:gd name="p0y473" fmla="*/ 14 h 14"/>
                <a:gd name="p0x474" fmla="*/ 4119 w 8004"/>
                <a:gd name="p0y474" fmla="*/ 0 h 14"/>
                <a:gd name="p0x475" fmla="*/ 4163 w 8004"/>
                <a:gd name="p0y475" fmla="*/ 0 h 14"/>
                <a:gd name="p0x476" fmla="*/ 4193 w 8004"/>
                <a:gd name="p0y476" fmla="*/ 0 h 14"/>
                <a:gd name="p0x477" fmla="*/ 4193 w 8004"/>
                <a:gd name="p0y477" fmla="*/ 14 h 14"/>
                <a:gd name="p0x478" fmla="*/ 4163 w 8004"/>
                <a:gd name="p0y478" fmla="*/ 14 h 14"/>
                <a:gd name="p0x479" fmla="*/ 4163 w 8004"/>
                <a:gd name="p0y479" fmla="*/ 0 h 14"/>
                <a:gd name="p0x480" fmla="*/ 4207 w 8004"/>
                <a:gd name="p0y480" fmla="*/ 0 h 14"/>
                <a:gd name="p0x481" fmla="*/ 4237 w 8004"/>
                <a:gd name="p0y481" fmla="*/ 0 h 14"/>
                <a:gd name="p0x482" fmla="*/ 4237 w 8004"/>
                <a:gd name="p0y482" fmla="*/ 14 h 14"/>
                <a:gd name="p0x483" fmla="*/ 4207 w 8004"/>
                <a:gd name="p0y483" fmla="*/ 14 h 14"/>
                <a:gd name="p0x484" fmla="*/ 4207 w 8004"/>
                <a:gd name="p0y484" fmla="*/ 0 h 14"/>
                <a:gd name="p0x485" fmla="*/ 4252 w 8004"/>
                <a:gd name="p0y485" fmla="*/ 0 h 14"/>
                <a:gd name="p0x486" fmla="*/ 4281 w 8004"/>
                <a:gd name="p0y486" fmla="*/ 0 h 14"/>
                <a:gd name="p0x487" fmla="*/ 4281 w 8004"/>
                <a:gd name="p0y487" fmla="*/ 14 h 14"/>
                <a:gd name="p0x488" fmla="*/ 4252 w 8004"/>
                <a:gd name="p0y488" fmla="*/ 14 h 14"/>
                <a:gd name="p0x489" fmla="*/ 4252 w 8004"/>
                <a:gd name="p0y489" fmla="*/ 0 h 14"/>
                <a:gd name="p0x490" fmla="*/ 4296 w 8004"/>
                <a:gd name="p0y490" fmla="*/ 0 h 14"/>
                <a:gd name="p0x491" fmla="*/ 4325 w 8004"/>
                <a:gd name="p0y491" fmla="*/ 0 h 14"/>
                <a:gd name="p0x492" fmla="*/ 4325 w 8004"/>
                <a:gd name="p0y492" fmla="*/ 14 h 14"/>
                <a:gd name="p0x493" fmla="*/ 4296 w 8004"/>
                <a:gd name="p0y493" fmla="*/ 14 h 14"/>
                <a:gd name="p0x494" fmla="*/ 4296 w 8004"/>
                <a:gd name="p0y494" fmla="*/ 0 h 14"/>
                <a:gd name="p0x495" fmla="*/ 4340 w 8004"/>
                <a:gd name="p0y495" fmla="*/ 0 h 14"/>
                <a:gd name="p0x496" fmla="*/ 4369 w 8004"/>
                <a:gd name="p0y496" fmla="*/ 0 h 14"/>
                <a:gd name="p0x497" fmla="*/ 4369 w 8004"/>
                <a:gd name="p0y497" fmla="*/ 14 h 14"/>
                <a:gd name="p0x498" fmla="*/ 4340 w 8004"/>
                <a:gd name="p0y498" fmla="*/ 14 h 14"/>
                <a:gd name="p0x499" fmla="*/ 4340 w 8004"/>
                <a:gd name="p0y499" fmla="*/ 0 h 14"/>
                <a:gd name="p0x500" fmla="*/ 4384 w 8004"/>
                <a:gd name="p0y500" fmla="*/ 0 h 14"/>
                <a:gd name="p0x501" fmla="*/ 4413 w 8004"/>
                <a:gd name="p0y501" fmla="*/ 0 h 14"/>
                <a:gd name="p0x502" fmla="*/ 4413 w 8004"/>
                <a:gd name="p0y502" fmla="*/ 14 h 14"/>
                <a:gd name="p0x503" fmla="*/ 4384 w 8004"/>
                <a:gd name="p0y503" fmla="*/ 14 h 14"/>
                <a:gd name="p0x504" fmla="*/ 4384 w 8004"/>
                <a:gd name="p0y504" fmla="*/ 0 h 14"/>
                <a:gd name="p0x505" fmla="*/ 4428 w 8004"/>
                <a:gd name="p0y505" fmla="*/ 0 h 14"/>
                <a:gd name="p0x506" fmla="*/ 4457 w 8004"/>
                <a:gd name="p0y506" fmla="*/ 0 h 14"/>
                <a:gd name="p0x507" fmla="*/ 4457 w 8004"/>
                <a:gd name="p0y507" fmla="*/ 14 h 14"/>
                <a:gd name="p0x508" fmla="*/ 4428 w 8004"/>
                <a:gd name="p0y508" fmla="*/ 14 h 14"/>
                <a:gd name="p0x509" fmla="*/ 4428 w 8004"/>
                <a:gd name="p0y509" fmla="*/ 0 h 14"/>
                <a:gd name="p0x510" fmla="*/ 4472 w 8004"/>
                <a:gd name="p0y510" fmla="*/ 0 h 14"/>
                <a:gd name="p0x511" fmla="*/ 4502 w 8004"/>
                <a:gd name="p0y511" fmla="*/ 0 h 14"/>
                <a:gd name="p0x512" fmla="*/ 4502 w 8004"/>
                <a:gd name="p0y512" fmla="*/ 14 h 14"/>
                <a:gd name="p0x513" fmla="*/ 4472 w 8004"/>
                <a:gd name="p0y513" fmla="*/ 14 h 14"/>
                <a:gd name="p0x514" fmla="*/ 4472 w 8004"/>
                <a:gd name="p0y514" fmla="*/ 0 h 14"/>
                <a:gd name="p0x515" fmla="*/ 4516 w 8004"/>
                <a:gd name="p0y515" fmla="*/ 0 h 14"/>
                <a:gd name="p0x516" fmla="*/ 4546 w 8004"/>
                <a:gd name="p0y516" fmla="*/ 0 h 14"/>
                <a:gd name="p0x517" fmla="*/ 4546 w 8004"/>
                <a:gd name="p0y517" fmla="*/ 14 h 14"/>
                <a:gd name="p0x518" fmla="*/ 4516 w 8004"/>
                <a:gd name="p0y518" fmla="*/ 14 h 14"/>
                <a:gd name="p0x519" fmla="*/ 4516 w 8004"/>
                <a:gd name="p0y519" fmla="*/ 0 h 14"/>
                <a:gd name="p0x520" fmla="*/ 4560 w 8004"/>
                <a:gd name="p0y520" fmla="*/ 0 h 14"/>
                <a:gd name="p0x521" fmla="*/ 4590 w 8004"/>
                <a:gd name="p0y521" fmla="*/ 0 h 14"/>
                <a:gd name="p0x522" fmla="*/ 4590 w 8004"/>
                <a:gd name="p0y522" fmla="*/ 14 h 14"/>
                <a:gd name="p0x523" fmla="*/ 4560 w 8004"/>
                <a:gd name="p0y523" fmla="*/ 14 h 14"/>
                <a:gd name="p0x524" fmla="*/ 4560 w 8004"/>
                <a:gd name="p0y524" fmla="*/ 0 h 14"/>
                <a:gd name="p0x525" fmla="*/ 4604 w 8004"/>
                <a:gd name="p0y525" fmla="*/ 0 h 14"/>
                <a:gd name="p0x526" fmla="*/ 4634 w 8004"/>
                <a:gd name="p0y526" fmla="*/ 0 h 14"/>
                <a:gd name="p0x527" fmla="*/ 4634 w 8004"/>
                <a:gd name="p0y527" fmla="*/ 14 h 14"/>
                <a:gd name="p0x528" fmla="*/ 4604 w 8004"/>
                <a:gd name="p0y528" fmla="*/ 14 h 14"/>
                <a:gd name="p0x529" fmla="*/ 4604 w 8004"/>
                <a:gd name="p0y529" fmla="*/ 0 h 14"/>
                <a:gd name="p0x530" fmla="*/ 4649 w 8004"/>
                <a:gd name="p0y530" fmla="*/ 0 h 14"/>
                <a:gd name="p0x531" fmla="*/ 4678 w 8004"/>
                <a:gd name="p0y531" fmla="*/ 0 h 14"/>
                <a:gd name="p0x532" fmla="*/ 4678 w 8004"/>
                <a:gd name="p0y532" fmla="*/ 14 h 14"/>
                <a:gd name="p0x533" fmla="*/ 4649 w 8004"/>
                <a:gd name="p0y533" fmla="*/ 14 h 14"/>
                <a:gd name="p0x534" fmla="*/ 4649 w 8004"/>
                <a:gd name="p0y534" fmla="*/ 0 h 14"/>
                <a:gd name="p0x535" fmla="*/ 4693 w 8004"/>
                <a:gd name="p0y535" fmla="*/ 0 h 14"/>
                <a:gd name="p0x536" fmla="*/ 4722 w 8004"/>
                <a:gd name="p0y536" fmla="*/ 0 h 14"/>
                <a:gd name="p0x537" fmla="*/ 4722 w 8004"/>
                <a:gd name="p0y537" fmla="*/ 14 h 14"/>
                <a:gd name="p0x538" fmla="*/ 4693 w 8004"/>
                <a:gd name="p0y538" fmla="*/ 14 h 14"/>
                <a:gd name="p0x539" fmla="*/ 4693 w 8004"/>
                <a:gd name="p0y539" fmla="*/ 0 h 14"/>
                <a:gd name="p0x540" fmla="*/ 4737 w 8004"/>
                <a:gd name="p0y540" fmla="*/ 0 h 14"/>
                <a:gd name="p0x541" fmla="*/ 4766 w 8004"/>
                <a:gd name="p0y541" fmla="*/ 0 h 14"/>
                <a:gd name="p0x542" fmla="*/ 4766 w 8004"/>
                <a:gd name="p0y542" fmla="*/ 14 h 14"/>
                <a:gd name="p0x543" fmla="*/ 4737 w 8004"/>
                <a:gd name="p0y543" fmla="*/ 14 h 14"/>
                <a:gd name="p0x544" fmla="*/ 4737 w 8004"/>
                <a:gd name="p0y544" fmla="*/ 0 h 14"/>
                <a:gd name="p0x545" fmla="*/ 4781 w 8004"/>
                <a:gd name="p0y545" fmla="*/ 0 h 14"/>
                <a:gd name="p0x546" fmla="*/ 4810 w 8004"/>
                <a:gd name="p0y546" fmla="*/ 0 h 14"/>
                <a:gd name="p0x547" fmla="*/ 4810 w 8004"/>
                <a:gd name="p0y547" fmla="*/ 14 h 14"/>
                <a:gd name="p0x548" fmla="*/ 4781 w 8004"/>
                <a:gd name="p0y548" fmla="*/ 14 h 14"/>
                <a:gd name="p0x549" fmla="*/ 4781 w 8004"/>
                <a:gd name="p0y549" fmla="*/ 0 h 14"/>
                <a:gd name="p0x550" fmla="*/ 4825 w 8004"/>
                <a:gd name="p0y550" fmla="*/ 0 h 14"/>
                <a:gd name="p0x551" fmla="*/ 4854 w 8004"/>
                <a:gd name="p0y551" fmla="*/ 0 h 14"/>
                <a:gd name="p0x552" fmla="*/ 4854 w 8004"/>
                <a:gd name="p0y552" fmla="*/ 14 h 14"/>
                <a:gd name="p0x553" fmla="*/ 4825 w 8004"/>
                <a:gd name="p0y553" fmla="*/ 14 h 14"/>
                <a:gd name="p0x554" fmla="*/ 4825 w 8004"/>
                <a:gd name="p0y554" fmla="*/ 0 h 14"/>
                <a:gd name="p0x555" fmla="*/ 4869 w 8004"/>
                <a:gd name="p0y555" fmla="*/ 0 h 14"/>
                <a:gd name="p0x556" fmla="*/ 4899 w 8004"/>
                <a:gd name="p0y556" fmla="*/ 0 h 14"/>
                <a:gd name="p0x557" fmla="*/ 4899 w 8004"/>
                <a:gd name="p0y557" fmla="*/ 14 h 14"/>
                <a:gd name="p0x558" fmla="*/ 4869 w 8004"/>
                <a:gd name="p0y558" fmla="*/ 14 h 14"/>
                <a:gd name="p0x559" fmla="*/ 4869 w 8004"/>
                <a:gd name="p0y559" fmla="*/ 0 h 14"/>
                <a:gd name="p0x560" fmla="*/ 4913 w 8004"/>
                <a:gd name="p0y560" fmla="*/ 0 h 14"/>
                <a:gd name="p0x561" fmla="*/ 4943 w 8004"/>
                <a:gd name="p0y561" fmla="*/ 0 h 14"/>
                <a:gd name="p0x562" fmla="*/ 4943 w 8004"/>
                <a:gd name="p0y562" fmla="*/ 14 h 14"/>
                <a:gd name="p0x563" fmla="*/ 4913 w 8004"/>
                <a:gd name="p0y563" fmla="*/ 14 h 14"/>
                <a:gd name="p0x564" fmla="*/ 4913 w 8004"/>
                <a:gd name="p0y564" fmla="*/ 0 h 14"/>
                <a:gd name="p0x565" fmla="*/ 4957 w 8004"/>
                <a:gd name="p0y565" fmla="*/ 0 h 14"/>
                <a:gd name="p0x566" fmla="*/ 4987 w 8004"/>
                <a:gd name="p0y566" fmla="*/ 0 h 14"/>
                <a:gd name="p0x567" fmla="*/ 4987 w 8004"/>
                <a:gd name="p0y567" fmla="*/ 14 h 14"/>
                <a:gd name="p0x568" fmla="*/ 4957 w 8004"/>
                <a:gd name="p0y568" fmla="*/ 14 h 14"/>
                <a:gd name="p0x569" fmla="*/ 4957 w 8004"/>
                <a:gd name="p0y569" fmla="*/ 0 h 14"/>
                <a:gd name="p0x570" fmla="*/ 5002 w 8004"/>
                <a:gd name="p0y570" fmla="*/ 0 h 14"/>
                <a:gd name="p0x571" fmla="*/ 5031 w 8004"/>
                <a:gd name="p0y571" fmla="*/ 0 h 14"/>
                <a:gd name="p0x572" fmla="*/ 5031 w 8004"/>
                <a:gd name="p0y572" fmla="*/ 14 h 14"/>
                <a:gd name="p0x573" fmla="*/ 5002 w 8004"/>
                <a:gd name="p0y573" fmla="*/ 14 h 14"/>
                <a:gd name="p0x574" fmla="*/ 5002 w 8004"/>
                <a:gd name="p0y574" fmla="*/ 0 h 14"/>
                <a:gd name="p0x575" fmla="*/ 5046 w 8004"/>
                <a:gd name="p0y575" fmla="*/ 0 h 14"/>
                <a:gd name="p0x576" fmla="*/ 5075 w 8004"/>
                <a:gd name="p0y576" fmla="*/ 0 h 14"/>
                <a:gd name="p0x577" fmla="*/ 5075 w 8004"/>
                <a:gd name="p0y577" fmla="*/ 14 h 14"/>
                <a:gd name="p0x578" fmla="*/ 5046 w 8004"/>
                <a:gd name="p0y578" fmla="*/ 14 h 14"/>
                <a:gd name="p0x579" fmla="*/ 5046 w 8004"/>
                <a:gd name="p0y579" fmla="*/ 0 h 14"/>
                <a:gd name="p0x580" fmla="*/ 5090 w 8004"/>
                <a:gd name="p0y580" fmla="*/ 0 h 14"/>
                <a:gd name="p0x581" fmla="*/ 5119 w 8004"/>
                <a:gd name="p0y581" fmla="*/ 0 h 14"/>
                <a:gd name="p0x582" fmla="*/ 5119 w 8004"/>
                <a:gd name="p0y582" fmla="*/ 14 h 14"/>
                <a:gd name="p0x583" fmla="*/ 5090 w 8004"/>
                <a:gd name="p0y583" fmla="*/ 14 h 14"/>
                <a:gd name="p0x584" fmla="*/ 5090 w 8004"/>
                <a:gd name="p0y584" fmla="*/ 0 h 14"/>
                <a:gd name="p0x585" fmla="*/ 5134 w 8004"/>
                <a:gd name="p0y585" fmla="*/ 0 h 14"/>
                <a:gd name="p0x586" fmla="*/ 5163 w 8004"/>
                <a:gd name="p0y586" fmla="*/ 0 h 14"/>
                <a:gd name="p0x587" fmla="*/ 5163 w 8004"/>
                <a:gd name="p0y587" fmla="*/ 14 h 14"/>
                <a:gd name="p0x588" fmla="*/ 5134 w 8004"/>
                <a:gd name="p0y588" fmla="*/ 14 h 14"/>
                <a:gd name="p0x589" fmla="*/ 5134 w 8004"/>
                <a:gd name="p0y589" fmla="*/ 0 h 14"/>
                <a:gd name="p0x590" fmla="*/ 5178 w 8004"/>
                <a:gd name="p0y590" fmla="*/ 0 h 14"/>
                <a:gd name="p0x591" fmla="*/ 5207 w 8004"/>
                <a:gd name="p0y591" fmla="*/ 0 h 14"/>
                <a:gd name="p0x592" fmla="*/ 5207 w 8004"/>
                <a:gd name="p0y592" fmla="*/ 14 h 14"/>
                <a:gd name="p0x593" fmla="*/ 5178 w 8004"/>
                <a:gd name="p0y593" fmla="*/ 14 h 14"/>
                <a:gd name="p0x594" fmla="*/ 5178 w 8004"/>
                <a:gd name="p0y594" fmla="*/ 0 h 14"/>
                <a:gd name="p0x595" fmla="*/ 5222 w 8004"/>
                <a:gd name="p0y595" fmla="*/ 0 h 14"/>
                <a:gd name="p0x596" fmla="*/ 5252 w 8004"/>
                <a:gd name="p0y596" fmla="*/ 0 h 14"/>
                <a:gd name="p0x597" fmla="*/ 5252 w 8004"/>
                <a:gd name="p0y597" fmla="*/ 14 h 14"/>
                <a:gd name="p0x598" fmla="*/ 5222 w 8004"/>
                <a:gd name="p0y598" fmla="*/ 14 h 14"/>
                <a:gd name="p0x599" fmla="*/ 5222 w 8004"/>
                <a:gd name="p0y599" fmla="*/ 0 h 14"/>
                <a:gd name="p0x600" fmla="*/ 5266 w 8004"/>
                <a:gd name="p0y600" fmla="*/ 0 h 14"/>
                <a:gd name="p0x601" fmla="*/ 5296 w 8004"/>
                <a:gd name="p0y601" fmla="*/ 0 h 14"/>
                <a:gd name="p0x602" fmla="*/ 5296 w 8004"/>
                <a:gd name="p0y602" fmla="*/ 14 h 14"/>
                <a:gd name="p0x603" fmla="*/ 5266 w 8004"/>
                <a:gd name="p0y603" fmla="*/ 14 h 14"/>
                <a:gd name="p0x604" fmla="*/ 5266 w 8004"/>
                <a:gd name="p0y604" fmla="*/ 0 h 14"/>
                <a:gd name="p0x605" fmla="*/ 5310 w 8004"/>
                <a:gd name="p0y605" fmla="*/ 0 h 14"/>
                <a:gd name="p0x606" fmla="*/ 5340 w 8004"/>
                <a:gd name="p0y606" fmla="*/ 0 h 14"/>
                <a:gd name="p0x607" fmla="*/ 5340 w 8004"/>
                <a:gd name="p0y607" fmla="*/ 14 h 14"/>
                <a:gd name="p0x608" fmla="*/ 5310 w 8004"/>
                <a:gd name="p0y608" fmla="*/ 14 h 14"/>
                <a:gd name="p0x609" fmla="*/ 5310 w 8004"/>
                <a:gd name="p0y609" fmla="*/ 0 h 14"/>
                <a:gd name="p0x610" fmla="*/ 5354 w 8004"/>
                <a:gd name="p0y610" fmla="*/ 0 h 14"/>
                <a:gd name="p0x611" fmla="*/ 5384 w 8004"/>
                <a:gd name="p0y611" fmla="*/ 0 h 14"/>
                <a:gd name="p0x612" fmla="*/ 5384 w 8004"/>
                <a:gd name="p0y612" fmla="*/ 14 h 14"/>
                <a:gd name="p0x613" fmla="*/ 5354 w 8004"/>
                <a:gd name="p0y613" fmla="*/ 14 h 14"/>
                <a:gd name="p0x614" fmla="*/ 5354 w 8004"/>
                <a:gd name="p0y614" fmla="*/ 0 h 14"/>
                <a:gd name="p0x615" fmla="*/ 5399 w 8004"/>
                <a:gd name="p0y615" fmla="*/ 0 h 14"/>
                <a:gd name="p0x616" fmla="*/ 5428 w 8004"/>
                <a:gd name="p0y616" fmla="*/ 0 h 14"/>
                <a:gd name="p0x617" fmla="*/ 5428 w 8004"/>
                <a:gd name="p0y617" fmla="*/ 14 h 14"/>
                <a:gd name="p0x618" fmla="*/ 5399 w 8004"/>
                <a:gd name="p0y618" fmla="*/ 14 h 14"/>
                <a:gd name="p0x619" fmla="*/ 5399 w 8004"/>
                <a:gd name="p0y619" fmla="*/ 0 h 14"/>
                <a:gd name="p0x620" fmla="*/ 5443 w 8004"/>
                <a:gd name="p0y620" fmla="*/ 0 h 14"/>
                <a:gd name="p0x621" fmla="*/ 5472 w 8004"/>
                <a:gd name="p0y621" fmla="*/ 0 h 14"/>
                <a:gd name="p0x622" fmla="*/ 5472 w 8004"/>
                <a:gd name="p0y622" fmla="*/ 14 h 14"/>
                <a:gd name="p0x623" fmla="*/ 5443 w 8004"/>
                <a:gd name="p0y623" fmla="*/ 14 h 14"/>
                <a:gd name="p0x624" fmla="*/ 5443 w 8004"/>
                <a:gd name="p0y624" fmla="*/ 0 h 14"/>
                <a:gd name="p0x625" fmla="*/ 5487 w 8004"/>
                <a:gd name="p0y625" fmla="*/ 0 h 14"/>
                <a:gd name="p0x626" fmla="*/ 5516 w 8004"/>
                <a:gd name="p0y626" fmla="*/ 0 h 14"/>
                <a:gd name="p0x627" fmla="*/ 5516 w 8004"/>
                <a:gd name="p0y627" fmla="*/ 14 h 14"/>
                <a:gd name="p0x628" fmla="*/ 5487 w 8004"/>
                <a:gd name="p0y628" fmla="*/ 14 h 14"/>
                <a:gd name="p0x629" fmla="*/ 5487 w 8004"/>
                <a:gd name="p0y629" fmla="*/ 0 h 14"/>
                <a:gd name="p0x630" fmla="*/ 5531 w 8004"/>
                <a:gd name="p0y630" fmla="*/ 0 h 14"/>
                <a:gd name="p0x631" fmla="*/ 5560 w 8004"/>
                <a:gd name="p0y631" fmla="*/ 0 h 14"/>
                <a:gd name="p0x632" fmla="*/ 5560 w 8004"/>
                <a:gd name="p0y632" fmla="*/ 14 h 14"/>
                <a:gd name="p0x633" fmla="*/ 5531 w 8004"/>
                <a:gd name="p0y633" fmla="*/ 14 h 14"/>
                <a:gd name="p0x634" fmla="*/ 5531 w 8004"/>
                <a:gd name="p0y634" fmla="*/ 0 h 14"/>
                <a:gd name="p0x635" fmla="*/ 5575 w 8004"/>
                <a:gd name="p0y635" fmla="*/ 0 h 14"/>
                <a:gd name="p0x636" fmla="*/ 5604 w 8004"/>
                <a:gd name="p0y636" fmla="*/ 0 h 14"/>
                <a:gd name="p0x637" fmla="*/ 5604 w 8004"/>
                <a:gd name="p0y637" fmla="*/ 14 h 14"/>
                <a:gd name="p0x638" fmla="*/ 5575 w 8004"/>
                <a:gd name="p0y638" fmla="*/ 14 h 14"/>
                <a:gd name="p0x639" fmla="*/ 5575 w 8004"/>
                <a:gd name="p0y639" fmla="*/ 0 h 14"/>
                <a:gd name="p0x640" fmla="*/ 5619 w 8004"/>
                <a:gd name="p0y640" fmla="*/ 0 h 14"/>
                <a:gd name="p0x641" fmla="*/ 5649 w 8004"/>
                <a:gd name="p0y641" fmla="*/ 0 h 14"/>
                <a:gd name="p0x642" fmla="*/ 5649 w 8004"/>
                <a:gd name="p0y642" fmla="*/ 14 h 14"/>
                <a:gd name="p0x643" fmla="*/ 5619 w 8004"/>
                <a:gd name="p0y643" fmla="*/ 14 h 14"/>
                <a:gd name="p0x644" fmla="*/ 5619 w 8004"/>
                <a:gd name="p0y644" fmla="*/ 0 h 14"/>
                <a:gd name="p0x645" fmla="*/ 5663 w 8004"/>
                <a:gd name="p0y645" fmla="*/ 0 h 14"/>
                <a:gd name="p0x646" fmla="*/ 5693 w 8004"/>
                <a:gd name="p0y646" fmla="*/ 0 h 14"/>
                <a:gd name="p0x647" fmla="*/ 5693 w 8004"/>
                <a:gd name="p0y647" fmla="*/ 14 h 14"/>
                <a:gd name="p0x648" fmla="*/ 5663 w 8004"/>
                <a:gd name="p0y648" fmla="*/ 14 h 14"/>
                <a:gd name="p0x649" fmla="*/ 5663 w 8004"/>
                <a:gd name="p0y649" fmla="*/ 0 h 14"/>
                <a:gd name="p0x650" fmla="*/ 5707 w 8004"/>
                <a:gd name="p0y650" fmla="*/ 0 h 14"/>
                <a:gd name="p0x651" fmla="*/ 5737 w 8004"/>
                <a:gd name="p0y651" fmla="*/ 0 h 14"/>
                <a:gd name="p0x652" fmla="*/ 5737 w 8004"/>
                <a:gd name="p0y652" fmla="*/ 14 h 14"/>
                <a:gd name="p0x653" fmla="*/ 5707 w 8004"/>
                <a:gd name="p0y653" fmla="*/ 14 h 14"/>
                <a:gd name="p0x654" fmla="*/ 5707 w 8004"/>
                <a:gd name="p0y654" fmla="*/ 0 h 14"/>
                <a:gd name="p0x655" fmla="*/ 5752 w 8004"/>
                <a:gd name="p0y655" fmla="*/ 0 h 14"/>
                <a:gd name="p0x656" fmla="*/ 5781 w 8004"/>
                <a:gd name="p0y656" fmla="*/ 0 h 14"/>
                <a:gd name="p0x657" fmla="*/ 5781 w 8004"/>
                <a:gd name="p0y657" fmla="*/ 14 h 14"/>
                <a:gd name="p0x658" fmla="*/ 5752 w 8004"/>
                <a:gd name="p0y658" fmla="*/ 14 h 14"/>
                <a:gd name="p0x659" fmla="*/ 5752 w 8004"/>
                <a:gd name="p0y659" fmla="*/ 0 h 14"/>
                <a:gd name="p0x660" fmla="*/ 5796 w 8004"/>
                <a:gd name="p0y660" fmla="*/ 0 h 14"/>
                <a:gd name="p0x661" fmla="*/ 5825 w 8004"/>
                <a:gd name="p0y661" fmla="*/ 0 h 14"/>
                <a:gd name="p0x662" fmla="*/ 5825 w 8004"/>
                <a:gd name="p0y662" fmla="*/ 14 h 14"/>
                <a:gd name="p0x663" fmla="*/ 5796 w 8004"/>
                <a:gd name="p0y663" fmla="*/ 14 h 14"/>
                <a:gd name="p0x664" fmla="*/ 5796 w 8004"/>
                <a:gd name="p0y664" fmla="*/ 0 h 14"/>
                <a:gd name="p0x665" fmla="*/ 5840 w 8004"/>
                <a:gd name="p0y665" fmla="*/ 0 h 14"/>
                <a:gd name="p0x666" fmla="*/ 5869 w 8004"/>
                <a:gd name="p0y666" fmla="*/ 0 h 14"/>
                <a:gd name="p0x667" fmla="*/ 5869 w 8004"/>
                <a:gd name="p0y667" fmla="*/ 14 h 14"/>
                <a:gd name="p0x668" fmla="*/ 5840 w 8004"/>
                <a:gd name="p0y668" fmla="*/ 14 h 14"/>
                <a:gd name="p0x669" fmla="*/ 5840 w 8004"/>
                <a:gd name="p0y669" fmla="*/ 0 h 14"/>
                <a:gd name="p0x670" fmla="*/ 5884 w 8004"/>
                <a:gd name="p0y670" fmla="*/ 0 h 14"/>
                <a:gd name="p0x671" fmla="*/ 5913 w 8004"/>
                <a:gd name="p0y671" fmla="*/ 0 h 14"/>
                <a:gd name="p0x672" fmla="*/ 5913 w 8004"/>
                <a:gd name="p0y672" fmla="*/ 14 h 14"/>
                <a:gd name="p0x673" fmla="*/ 5884 w 8004"/>
                <a:gd name="p0y673" fmla="*/ 14 h 14"/>
                <a:gd name="p0x674" fmla="*/ 5884 w 8004"/>
                <a:gd name="p0y674" fmla="*/ 0 h 14"/>
                <a:gd name="p0x675" fmla="*/ 5928 w 8004"/>
                <a:gd name="p0y675" fmla="*/ 0 h 14"/>
                <a:gd name="p0x676" fmla="*/ 5957 w 8004"/>
                <a:gd name="p0y676" fmla="*/ 0 h 14"/>
                <a:gd name="p0x677" fmla="*/ 5957 w 8004"/>
                <a:gd name="p0y677" fmla="*/ 14 h 14"/>
                <a:gd name="p0x678" fmla="*/ 5928 w 8004"/>
                <a:gd name="p0y678" fmla="*/ 14 h 14"/>
                <a:gd name="p0x679" fmla="*/ 5928 w 8004"/>
                <a:gd name="p0y679" fmla="*/ 0 h 14"/>
                <a:gd name="p0x680" fmla="*/ 5972 w 8004"/>
                <a:gd name="p0y680" fmla="*/ 0 h 14"/>
                <a:gd name="p0x681" fmla="*/ 6002 w 8004"/>
                <a:gd name="p0y681" fmla="*/ 0 h 14"/>
                <a:gd name="p0x682" fmla="*/ 6002 w 8004"/>
                <a:gd name="p0y682" fmla="*/ 14 h 14"/>
                <a:gd name="p0x683" fmla="*/ 5972 w 8004"/>
                <a:gd name="p0y683" fmla="*/ 14 h 14"/>
                <a:gd name="p0x684" fmla="*/ 5972 w 8004"/>
                <a:gd name="p0y684" fmla="*/ 0 h 14"/>
                <a:gd name="p0x685" fmla="*/ 6016 w 8004"/>
                <a:gd name="p0y685" fmla="*/ 0 h 14"/>
                <a:gd name="p0x686" fmla="*/ 6046 w 8004"/>
                <a:gd name="p0y686" fmla="*/ 0 h 14"/>
                <a:gd name="p0x687" fmla="*/ 6046 w 8004"/>
                <a:gd name="p0y687" fmla="*/ 14 h 14"/>
                <a:gd name="p0x688" fmla="*/ 6016 w 8004"/>
                <a:gd name="p0y688" fmla="*/ 14 h 14"/>
                <a:gd name="p0x689" fmla="*/ 6016 w 8004"/>
                <a:gd name="p0y689" fmla="*/ 0 h 14"/>
                <a:gd name="p0x690" fmla="*/ 6060 w 8004"/>
                <a:gd name="p0y690" fmla="*/ 0 h 14"/>
                <a:gd name="p0x691" fmla="*/ 6090 w 8004"/>
                <a:gd name="p0y691" fmla="*/ 0 h 14"/>
                <a:gd name="p0x692" fmla="*/ 6090 w 8004"/>
                <a:gd name="p0y692" fmla="*/ 14 h 14"/>
                <a:gd name="p0x693" fmla="*/ 6060 w 8004"/>
                <a:gd name="p0y693" fmla="*/ 14 h 14"/>
                <a:gd name="p0x694" fmla="*/ 6060 w 8004"/>
                <a:gd name="p0y694" fmla="*/ 0 h 14"/>
                <a:gd name="p0x695" fmla="*/ 6104 w 8004"/>
                <a:gd name="p0y695" fmla="*/ 0 h 14"/>
                <a:gd name="p0x696" fmla="*/ 6134 w 8004"/>
                <a:gd name="p0y696" fmla="*/ 0 h 14"/>
                <a:gd name="p0x697" fmla="*/ 6134 w 8004"/>
                <a:gd name="p0y697" fmla="*/ 14 h 14"/>
                <a:gd name="p0x698" fmla="*/ 6104 w 8004"/>
                <a:gd name="p0y698" fmla="*/ 14 h 14"/>
                <a:gd name="p0x699" fmla="*/ 6104 w 8004"/>
                <a:gd name="p0y699" fmla="*/ 0 h 14"/>
                <a:gd name="p0x700" fmla="*/ 6149 w 8004"/>
                <a:gd name="p0y700" fmla="*/ 0 h 14"/>
                <a:gd name="p0x701" fmla="*/ 6178 w 8004"/>
                <a:gd name="p0y701" fmla="*/ 0 h 14"/>
                <a:gd name="p0x702" fmla="*/ 6178 w 8004"/>
                <a:gd name="p0y702" fmla="*/ 14 h 14"/>
                <a:gd name="p0x703" fmla="*/ 6149 w 8004"/>
                <a:gd name="p0y703" fmla="*/ 14 h 14"/>
                <a:gd name="p0x704" fmla="*/ 6149 w 8004"/>
                <a:gd name="p0y704" fmla="*/ 0 h 14"/>
                <a:gd name="p0x705" fmla="*/ 6193 w 8004"/>
                <a:gd name="p0y705" fmla="*/ 0 h 14"/>
                <a:gd name="p0x706" fmla="*/ 6222 w 8004"/>
                <a:gd name="p0y706" fmla="*/ 0 h 14"/>
                <a:gd name="p0x707" fmla="*/ 6222 w 8004"/>
                <a:gd name="p0y707" fmla="*/ 14 h 14"/>
                <a:gd name="p0x708" fmla="*/ 6193 w 8004"/>
                <a:gd name="p0y708" fmla="*/ 14 h 14"/>
                <a:gd name="p0x709" fmla="*/ 6193 w 8004"/>
                <a:gd name="p0y709" fmla="*/ 0 h 14"/>
                <a:gd name="p0x710" fmla="*/ 6237 w 8004"/>
                <a:gd name="p0y710" fmla="*/ 0 h 14"/>
                <a:gd name="p0x711" fmla="*/ 6266 w 8004"/>
                <a:gd name="p0y711" fmla="*/ 0 h 14"/>
                <a:gd name="p0x712" fmla="*/ 6266 w 8004"/>
                <a:gd name="p0y712" fmla="*/ 14 h 14"/>
                <a:gd name="p0x713" fmla="*/ 6237 w 8004"/>
                <a:gd name="p0y713" fmla="*/ 14 h 14"/>
                <a:gd name="p0x714" fmla="*/ 6237 w 8004"/>
                <a:gd name="p0y714" fmla="*/ 0 h 14"/>
                <a:gd name="p0x715" fmla="*/ 6281 w 8004"/>
                <a:gd name="p0y715" fmla="*/ 0 h 14"/>
                <a:gd name="p0x716" fmla="*/ 6310 w 8004"/>
                <a:gd name="p0y716" fmla="*/ 0 h 14"/>
                <a:gd name="p0x717" fmla="*/ 6310 w 8004"/>
                <a:gd name="p0y717" fmla="*/ 14 h 14"/>
                <a:gd name="p0x718" fmla="*/ 6281 w 8004"/>
                <a:gd name="p0y718" fmla="*/ 14 h 14"/>
                <a:gd name="p0x719" fmla="*/ 6281 w 8004"/>
                <a:gd name="p0y719" fmla="*/ 0 h 14"/>
                <a:gd name="p0x720" fmla="*/ 6325 w 8004"/>
                <a:gd name="p0y720" fmla="*/ 0 h 14"/>
                <a:gd name="p0x721" fmla="*/ 6354 w 8004"/>
                <a:gd name="p0y721" fmla="*/ 0 h 14"/>
                <a:gd name="p0x722" fmla="*/ 6354 w 8004"/>
                <a:gd name="p0y722" fmla="*/ 14 h 14"/>
                <a:gd name="p0x723" fmla="*/ 6325 w 8004"/>
                <a:gd name="p0y723" fmla="*/ 14 h 14"/>
                <a:gd name="p0x724" fmla="*/ 6325 w 8004"/>
                <a:gd name="p0y724" fmla="*/ 0 h 14"/>
                <a:gd name="p0x725" fmla="*/ 6369 w 8004"/>
                <a:gd name="p0y725" fmla="*/ 0 h 14"/>
                <a:gd name="p0x726" fmla="*/ 6399 w 8004"/>
                <a:gd name="p0y726" fmla="*/ 0 h 14"/>
                <a:gd name="p0x727" fmla="*/ 6399 w 8004"/>
                <a:gd name="p0y727" fmla="*/ 14 h 14"/>
                <a:gd name="p0x728" fmla="*/ 6369 w 8004"/>
                <a:gd name="p0y728" fmla="*/ 14 h 14"/>
                <a:gd name="p0x729" fmla="*/ 6369 w 8004"/>
                <a:gd name="p0y729" fmla="*/ 0 h 14"/>
                <a:gd name="p0x730" fmla="*/ 6413 w 8004"/>
                <a:gd name="p0y730" fmla="*/ 0 h 14"/>
                <a:gd name="p0x731" fmla="*/ 6443 w 8004"/>
                <a:gd name="p0y731" fmla="*/ 0 h 14"/>
                <a:gd name="p0x732" fmla="*/ 6443 w 8004"/>
                <a:gd name="p0y732" fmla="*/ 14 h 14"/>
                <a:gd name="p0x733" fmla="*/ 6413 w 8004"/>
                <a:gd name="p0y733" fmla="*/ 14 h 14"/>
                <a:gd name="p0x734" fmla="*/ 6413 w 8004"/>
                <a:gd name="p0y734" fmla="*/ 0 h 14"/>
                <a:gd name="p0x735" fmla="*/ 6457 w 8004"/>
                <a:gd name="p0y735" fmla="*/ 0 h 14"/>
                <a:gd name="p0x736" fmla="*/ 6487 w 8004"/>
                <a:gd name="p0y736" fmla="*/ 0 h 14"/>
                <a:gd name="p0x737" fmla="*/ 6487 w 8004"/>
                <a:gd name="p0y737" fmla="*/ 14 h 14"/>
                <a:gd name="p0x738" fmla="*/ 6457 w 8004"/>
                <a:gd name="p0y738" fmla="*/ 14 h 14"/>
                <a:gd name="p0x739" fmla="*/ 6457 w 8004"/>
                <a:gd name="p0y739" fmla="*/ 0 h 14"/>
                <a:gd name="p0x740" fmla="*/ 6502 w 8004"/>
                <a:gd name="p0y740" fmla="*/ 0 h 14"/>
                <a:gd name="p0x741" fmla="*/ 6531 w 8004"/>
                <a:gd name="p0y741" fmla="*/ 0 h 14"/>
                <a:gd name="p0x742" fmla="*/ 6531 w 8004"/>
                <a:gd name="p0y742" fmla="*/ 14 h 14"/>
                <a:gd name="p0x743" fmla="*/ 6502 w 8004"/>
                <a:gd name="p0y743" fmla="*/ 14 h 14"/>
                <a:gd name="p0x744" fmla="*/ 6502 w 8004"/>
                <a:gd name="p0y744" fmla="*/ 0 h 14"/>
                <a:gd name="p0x745" fmla="*/ 6546 w 8004"/>
                <a:gd name="p0y745" fmla="*/ 0 h 14"/>
                <a:gd name="p0x746" fmla="*/ 6575 w 8004"/>
                <a:gd name="p0y746" fmla="*/ 0 h 14"/>
                <a:gd name="p0x747" fmla="*/ 6575 w 8004"/>
                <a:gd name="p0y747" fmla="*/ 14 h 14"/>
                <a:gd name="p0x748" fmla="*/ 6546 w 8004"/>
                <a:gd name="p0y748" fmla="*/ 14 h 14"/>
                <a:gd name="p0x749" fmla="*/ 6546 w 8004"/>
                <a:gd name="p0y749" fmla="*/ 0 h 14"/>
                <a:gd name="p0x750" fmla="*/ 6590 w 8004"/>
                <a:gd name="p0y750" fmla="*/ 0 h 14"/>
                <a:gd name="p0x751" fmla="*/ 6619 w 8004"/>
                <a:gd name="p0y751" fmla="*/ 0 h 14"/>
                <a:gd name="p0x752" fmla="*/ 6619 w 8004"/>
                <a:gd name="p0y752" fmla="*/ 14 h 14"/>
                <a:gd name="p0x753" fmla="*/ 6590 w 8004"/>
                <a:gd name="p0y753" fmla="*/ 14 h 14"/>
                <a:gd name="p0x754" fmla="*/ 6590 w 8004"/>
                <a:gd name="p0y754" fmla="*/ 0 h 14"/>
                <a:gd name="p0x755" fmla="*/ 6634 w 8004"/>
                <a:gd name="p0y755" fmla="*/ 0 h 14"/>
                <a:gd name="p0x756" fmla="*/ 6663 w 8004"/>
                <a:gd name="p0y756" fmla="*/ 0 h 14"/>
                <a:gd name="p0x757" fmla="*/ 6663 w 8004"/>
                <a:gd name="p0y757" fmla="*/ 14 h 14"/>
                <a:gd name="p0x758" fmla="*/ 6634 w 8004"/>
                <a:gd name="p0y758" fmla="*/ 14 h 14"/>
                <a:gd name="p0x759" fmla="*/ 6634 w 8004"/>
                <a:gd name="p0y759" fmla="*/ 0 h 14"/>
                <a:gd name="p0x760" fmla="*/ 6678 w 8004"/>
                <a:gd name="p0y760" fmla="*/ 0 h 14"/>
                <a:gd name="p0x761" fmla="*/ 6707 w 8004"/>
                <a:gd name="p0y761" fmla="*/ 0 h 14"/>
                <a:gd name="p0x762" fmla="*/ 6707 w 8004"/>
                <a:gd name="p0y762" fmla="*/ 14 h 14"/>
                <a:gd name="p0x763" fmla="*/ 6678 w 8004"/>
                <a:gd name="p0y763" fmla="*/ 14 h 14"/>
                <a:gd name="p0x764" fmla="*/ 6678 w 8004"/>
                <a:gd name="p0y764" fmla="*/ 0 h 14"/>
                <a:gd name="p0x765" fmla="*/ 6722 w 8004"/>
                <a:gd name="p0y765" fmla="*/ 0 h 14"/>
                <a:gd name="p0x766" fmla="*/ 6752 w 8004"/>
                <a:gd name="p0y766" fmla="*/ 0 h 14"/>
                <a:gd name="p0x767" fmla="*/ 6752 w 8004"/>
                <a:gd name="p0y767" fmla="*/ 14 h 14"/>
                <a:gd name="p0x768" fmla="*/ 6722 w 8004"/>
                <a:gd name="p0y768" fmla="*/ 14 h 14"/>
                <a:gd name="p0x769" fmla="*/ 6722 w 8004"/>
                <a:gd name="p0y769" fmla="*/ 0 h 14"/>
                <a:gd name="p0x770" fmla="*/ 6766 w 8004"/>
                <a:gd name="p0y770" fmla="*/ 0 h 14"/>
                <a:gd name="p0x771" fmla="*/ 6796 w 8004"/>
                <a:gd name="p0y771" fmla="*/ 0 h 14"/>
                <a:gd name="p0x772" fmla="*/ 6796 w 8004"/>
                <a:gd name="p0y772" fmla="*/ 14 h 14"/>
                <a:gd name="p0x773" fmla="*/ 6766 w 8004"/>
                <a:gd name="p0y773" fmla="*/ 14 h 14"/>
                <a:gd name="p0x774" fmla="*/ 6766 w 8004"/>
                <a:gd name="p0y774" fmla="*/ 0 h 14"/>
                <a:gd name="p0x775" fmla="*/ 6810 w 8004"/>
                <a:gd name="p0y775" fmla="*/ 0 h 14"/>
                <a:gd name="p0x776" fmla="*/ 6840 w 8004"/>
                <a:gd name="p0y776" fmla="*/ 0 h 14"/>
                <a:gd name="p0x777" fmla="*/ 6840 w 8004"/>
                <a:gd name="p0y777" fmla="*/ 14 h 14"/>
                <a:gd name="p0x778" fmla="*/ 6810 w 8004"/>
                <a:gd name="p0y778" fmla="*/ 14 h 14"/>
                <a:gd name="p0x779" fmla="*/ 6810 w 8004"/>
                <a:gd name="p0y779" fmla="*/ 0 h 14"/>
                <a:gd name="p0x780" fmla="*/ 6854 w 8004"/>
                <a:gd name="p0y780" fmla="*/ 0 h 14"/>
                <a:gd name="p0x781" fmla="*/ 6884 w 8004"/>
                <a:gd name="p0y781" fmla="*/ 0 h 14"/>
                <a:gd name="p0x782" fmla="*/ 6884 w 8004"/>
                <a:gd name="p0y782" fmla="*/ 14 h 14"/>
                <a:gd name="p0x783" fmla="*/ 6854 w 8004"/>
                <a:gd name="p0y783" fmla="*/ 14 h 14"/>
                <a:gd name="p0x784" fmla="*/ 6854 w 8004"/>
                <a:gd name="p0y784" fmla="*/ 0 h 14"/>
                <a:gd name="p0x785" fmla="*/ 6899 w 8004"/>
                <a:gd name="p0y785" fmla="*/ 0 h 14"/>
                <a:gd name="p0x786" fmla="*/ 6928 w 8004"/>
                <a:gd name="p0y786" fmla="*/ 0 h 14"/>
                <a:gd name="p0x787" fmla="*/ 6928 w 8004"/>
                <a:gd name="p0y787" fmla="*/ 14 h 14"/>
                <a:gd name="p0x788" fmla="*/ 6899 w 8004"/>
                <a:gd name="p0y788" fmla="*/ 14 h 14"/>
                <a:gd name="p0x789" fmla="*/ 6899 w 8004"/>
                <a:gd name="p0y789" fmla="*/ 0 h 14"/>
                <a:gd name="p0x790" fmla="*/ 6943 w 8004"/>
                <a:gd name="p0y790" fmla="*/ 0 h 14"/>
                <a:gd name="p0x791" fmla="*/ 6972 w 8004"/>
                <a:gd name="p0y791" fmla="*/ 0 h 14"/>
                <a:gd name="p0x792" fmla="*/ 6972 w 8004"/>
                <a:gd name="p0y792" fmla="*/ 14 h 14"/>
                <a:gd name="p0x793" fmla="*/ 6943 w 8004"/>
                <a:gd name="p0y793" fmla="*/ 14 h 14"/>
                <a:gd name="p0x794" fmla="*/ 6943 w 8004"/>
                <a:gd name="p0y794" fmla="*/ 0 h 14"/>
                <a:gd name="p0x795" fmla="*/ 6987 w 8004"/>
                <a:gd name="p0y795" fmla="*/ 0 h 14"/>
                <a:gd name="p0x796" fmla="*/ 7016 w 8004"/>
                <a:gd name="p0y796" fmla="*/ 0 h 14"/>
                <a:gd name="p0x797" fmla="*/ 7016 w 8004"/>
                <a:gd name="p0y797" fmla="*/ 14 h 14"/>
                <a:gd name="p0x798" fmla="*/ 6987 w 8004"/>
                <a:gd name="p0y798" fmla="*/ 14 h 14"/>
                <a:gd name="p0x799" fmla="*/ 6987 w 8004"/>
                <a:gd name="p0y799" fmla="*/ 0 h 14"/>
                <a:gd name="p0x800" fmla="*/ 7031 w 8004"/>
                <a:gd name="p0y800" fmla="*/ 0 h 14"/>
                <a:gd name="p0x801" fmla="*/ 7060 w 8004"/>
                <a:gd name="p0y801" fmla="*/ 0 h 14"/>
                <a:gd name="p0x802" fmla="*/ 7060 w 8004"/>
                <a:gd name="p0y802" fmla="*/ 14 h 14"/>
                <a:gd name="p0x803" fmla="*/ 7031 w 8004"/>
                <a:gd name="p0y803" fmla="*/ 14 h 14"/>
                <a:gd name="p0x804" fmla="*/ 7031 w 8004"/>
                <a:gd name="p0y804" fmla="*/ 0 h 14"/>
                <a:gd name="p0x805" fmla="*/ 7075 w 8004"/>
                <a:gd name="p0y805" fmla="*/ 0 h 14"/>
                <a:gd name="p0x806" fmla="*/ 7104 w 8004"/>
                <a:gd name="p0y806" fmla="*/ 0 h 14"/>
                <a:gd name="p0x807" fmla="*/ 7104 w 8004"/>
                <a:gd name="p0y807" fmla="*/ 14 h 14"/>
                <a:gd name="p0x808" fmla="*/ 7075 w 8004"/>
                <a:gd name="p0y808" fmla="*/ 14 h 14"/>
                <a:gd name="p0x809" fmla="*/ 7075 w 8004"/>
                <a:gd name="p0y809" fmla="*/ 0 h 14"/>
                <a:gd name="p0x810" fmla="*/ 7119 w 8004"/>
                <a:gd name="p0y810" fmla="*/ 0 h 14"/>
                <a:gd name="p0x811" fmla="*/ 7149 w 8004"/>
                <a:gd name="p0y811" fmla="*/ 0 h 14"/>
                <a:gd name="p0x812" fmla="*/ 7149 w 8004"/>
                <a:gd name="p0y812" fmla="*/ 14 h 14"/>
                <a:gd name="p0x813" fmla="*/ 7119 w 8004"/>
                <a:gd name="p0y813" fmla="*/ 14 h 14"/>
                <a:gd name="p0x814" fmla="*/ 7119 w 8004"/>
                <a:gd name="p0y814" fmla="*/ 0 h 14"/>
                <a:gd name="p0x815" fmla="*/ 7163 w 8004"/>
                <a:gd name="p0y815" fmla="*/ 0 h 14"/>
                <a:gd name="p0x816" fmla="*/ 7193 w 8004"/>
                <a:gd name="p0y816" fmla="*/ 0 h 14"/>
                <a:gd name="p0x817" fmla="*/ 7193 w 8004"/>
                <a:gd name="p0y817" fmla="*/ 14 h 14"/>
                <a:gd name="p0x818" fmla="*/ 7163 w 8004"/>
                <a:gd name="p0y818" fmla="*/ 14 h 14"/>
                <a:gd name="p0x819" fmla="*/ 7163 w 8004"/>
                <a:gd name="p0y819" fmla="*/ 0 h 14"/>
                <a:gd name="p0x820" fmla="*/ 7207 w 8004"/>
                <a:gd name="p0y820" fmla="*/ 0 h 14"/>
                <a:gd name="p0x821" fmla="*/ 7237 w 8004"/>
                <a:gd name="p0y821" fmla="*/ 0 h 14"/>
                <a:gd name="p0x822" fmla="*/ 7237 w 8004"/>
                <a:gd name="p0y822" fmla="*/ 14 h 14"/>
                <a:gd name="p0x823" fmla="*/ 7207 w 8004"/>
                <a:gd name="p0y823" fmla="*/ 14 h 14"/>
                <a:gd name="p0x824" fmla="*/ 7207 w 8004"/>
                <a:gd name="p0y824" fmla="*/ 0 h 14"/>
                <a:gd name="p0x825" fmla="*/ 7252 w 8004"/>
                <a:gd name="p0y825" fmla="*/ 0 h 14"/>
                <a:gd name="p0x826" fmla="*/ 7281 w 8004"/>
                <a:gd name="p0y826" fmla="*/ 0 h 14"/>
                <a:gd name="p0x827" fmla="*/ 7281 w 8004"/>
                <a:gd name="p0y827" fmla="*/ 14 h 14"/>
                <a:gd name="p0x828" fmla="*/ 7252 w 8004"/>
                <a:gd name="p0y828" fmla="*/ 14 h 14"/>
                <a:gd name="p0x829" fmla="*/ 7252 w 8004"/>
                <a:gd name="p0y829" fmla="*/ 0 h 14"/>
                <a:gd name="p0x830" fmla="*/ 7296 w 8004"/>
                <a:gd name="p0y830" fmla="*/ 0 h 14"/>
                <a:gd name="p0x831" fmla="*/ 7325 w 8004"/>
                <a:gd name="p0y831" fmla="*/ 0 h 14"/>
                <a:gd name="p0x832" fmla="*/ 7325 w 8004"/>
                <a:gd name="p0y832" fmla="*/ 14 h 14"/>
                <a:gd name="p0x833" fmla="*/ 7296 w 8004"/>
                <a:gd name="p0y833" fmla="*/ 14 h 14"/>
                <a:gd name="p0x834" fmla="*/ 7296 w 8004"/>
                <a:gd name="p0y834" fmla="*/ 0 h 14"/>
                <a:gd name="p0x835" fmla="*/ 7340 w 8004"/>
                <a:gd name="p0y835" fmla="*/ 0 h 14"/>
                <a:gd name="p0x836" fmla="*/ 7369 w 8004"/>
                <a:gd name="p0y836" fmla="*/ 0 h 14"/>
                <a:gd name="p0x837" fmla="*/ 7369 w 8004"/>
                <a:gd name="p0y837" fmla="*/ 14 h 14"/>
                <a:gd name="p0x838" fmla="*/ 7340 w 8004"/>
                <a:gd name="p0y838" fmla="*/ 14 h 14"/>
                <a:gd name="p0x839" fmla="*/ 7340 w 8004"/>
                <a:gd name="p0y839" fmla="*/ 0 h 14"/>
                <a:gd name="p0x840" fmla="*/ 7384 w 8004"/>
                <a:gd name="p0y840" fmla="*/ 0 h 14"/>
                <a:gd name="p0x841" fmla="*/ 7413 w 8004"/>
                <a:gd name="p0y841" fmla="*/ 0 h 14"/>
                <a:gd name="p0x842" fmla="*/ 7413 w 8004"/>
                <a:gd name="p0y842" fmla="*/ 14 h 14"/>
                <a:gd name="p0x843" fmla="*/ 7384 w 8004"/>
                <a:gd name="p0y843" fmla="*/ 14 h 14"/>
                <a:gd name="p0x844" fmla="*/ 7384 w 8004"/>
                <a:gd name="p0y844" fmla="*/ 0 h 14"/>
                <a:gd name="p0x845" fmla="*/ 7428 w 8004"/>
                <a:gd name="p0y845" fmla="*/ 0 h 14"/>
                <a:gd name="p0x846" fmla="*/ 7457 w 8004"/>
                <a:gd name="p0y846" fmla="*/ 0 h 14"/>
                <a:gd name="p0x847" fmla="*/ 7457 w 8004"/>
                <a:gd name="p0y847" fmla="*/ 14 h 14"/>
                <a:gd name="p0x848" fmla="*/ 7428 w 8004"/>
                <a:gd name="p0y848" fmla="*/ 14 h 14"/>
                <a:gd name="p0x849" fmla="*/ 7428 w 8004"/>
                <a:gd name="p0y849" fmla="*/ 0 h 14"/>
                <a:gd name="p0x850" fmla="*/ 7472 w 8004"/>
                <a:gd name="p0y850" fmla="*/ 0 h 14"/>
                <a:gd name="p0x851" fmla="*/ 7502 w 8004"/>
                <a:gd name="p0y851" fmla="*/ 0 h 14"/>
                <a:gd name="p0x852" fmla="*/ 7502 w 8004"/>
                <a:gd name="p0y852" fmla="*/ 14 h 14"/>
                <a:gd name="p0x853" fmla="*/ 7472 w 8004"/>
                <a:gd name="p0y853" fmla="*/ 14 h 14"/>
                <a:gd name="p0x854" fmla="*/ 7472 w 8004"/>
                <a:gd name="p0y854" fmla="*/ 0 h 14"/>
                <a:gd name="p0x855" fmla="*/ 7516 w 8004"/>
                <a:gd name="p0y855" fmla="*/ 0 h 14"/>
                <a:gd name="p0x856" fmla="*/ 7546 w 8004"/>
                <a:gd name="p0y856" fmla="*/ 0 h 14"/>
                <a:gd name="p0x857" fmla="*/ 7546 w 8004"/>
                <a:gd name="p0y857" fmla="*/ 14 h 14"/>
                <a:gd name="p0x858" fmla="*/ 7516 w 8004"/>
                <a:gd name="p0y858" fmla="*/ 14 h 14"/>
                <a:gd name="p0x859" fmla="*/ 7516 w 8004"/>
                <a:gd name="p0y859" fmla="*/ 0 h 14"/>
                <a:gd name="p0x860" fmla="*/ 7560 w 8004"/>
                <a:gd name="p0y860" fmla="*/ 0 h 14"/>
                <a:gd name="p0x861" fmla="*/ 7590 w 8004"/>
                <a:gd name="p0y861" fmla="*/ 0 h 14"/>
                <a:gd name="p0x862" fmla="*/ 7590 w 8004"/>
                <a:gd name="p0y862" fmla="*/ 14 h 14"/>
                <a:gd name="p0x863" fmla="*/ 7560 w 8004"/>
                <a:gd name="p0y863" fmla="*/ 14 h 14"/>
                <a:gd name="p0x864" fmla="*/ 7560 w 8004"/>
                <a:gd name="p0y864" fmla="*/ 0 h 14"/>
                <a:gd name="p0x865" fmla="*/ 7604 w 8004"/>
                <a:gd name="p0y865" fmla="*/ 0 h 14"/>
                <a:gd name="p0x866" fmla="*/ 7634 w 8004"/>
                <a:gd name="p0y866" fmla="*/ 0 h 14"/>
                <a:gd name="p0x867" fmla="*/ 7634 w 8004"/>
                <a:gd name="p0y867" fmla="*/ 14 h 14"/>
                <a:gd name="p0x868" fmla="*/ 7604 w 8004"/>
                <a:gd name="p0y868" fmla="*/ 14 h 14"/>
                <a:gd name="p0x869" fmla="*/ 7604 w 8004"/>
                <a:gd name="p0y869" fmla="*/ 0 h 14"/>
                <a:gd name="p0x870" fmla="*/ 7649 w 8004"/>
                <a:gd name="p0y870" fmla="*/ 0 h 14"/>
                <a:gd name="p0x871" fmla="*/ 7678 w 8004"/>
                <a:gd name="p0y871" fmla="*/ 0 h 14"/>
                <a:gd name="p0x872" fmla="*/ 7678 w 8004"/>
                <a:gd name="p0y872" fmla="*/ 14 h 14"/>
                <a:gd name="p0x873" fmla="*/ 7649 w 8004"/>
                <a:gd name="p0y873" fmla="*/ 14 h 14"/>
                <a:gd name="p0x874" fmla="*/ 7649 w 8004"/>
                <a:gd name="p0y874" fmla="*/ 0 h 14"/>
                <a:gd name="p0x875" fmla="*/ 7693 w 8004"/>
                <a:gd name="p0y875" fmla="*/ 0 h 14"/>
                <a:gd name="p0x876" fmla="*/ 7722 w 8004"/>
                <a:gd name="p0y876" fmla="*/ 0 h 14"/>
                <a:gd name="p0x877" fmla="*/ 7722 w 8004"/>
                <a:gd name="p0y877" fmla="*/ 14 h 14"/>
                <a:gd name="p0x878" fmla="*/ 7693 w 8004"/>
                <a:gd name="p0y878" fmla="*/ 14 h 14"/>
                <a:gd name="p0x879" fmla="*/ 7693 w 8004"/>
                <a:gd name="p0y879" fmla="*/ 0 h 14"/>
                <a:gd name="p0x880" fmla="*/ 7737 w 8004"/>
                <a:gd name="p0y880" fmla="*/ 0 h 14"/>
                <a:gd name="p0x881" fmla="*/ 7766 w 8004"/>
                <a:gd name="p0y881" fmla="*/ 0 h 14"/>
                <a:gd name="p0x882" fmla="*/ 7766 w 8004"/>
                <a:gd name="p0y882" fmla="*/ 14 h 14"/>
                <a:gd name="p0x883" fmla="*/ 7737 w 8004"/>
                <a:gd name="p0y883" fmla="*/ 14 h 14"/>
                <a:gd name="p0x884" fmla="*/ 7737 w 8004"/>
                <a:gd name="p0y884" fmla="*/ 0 h 14"/>
                <a:gd name="p0x885" fmla="*/ 7781 w 8004"/>
                <a:gd name="p0y885" fmla="*/ 0 h 14"/>
                <a:gd name="p0x886" fmla="*/ 7810 w 8004"/>
                <a:gd name="p0y886" fmla="*/ 0 h 14"/>
                <a:gd name="p0x887" fmla="*/ 7810 w 8004"/>
                <a:gd name="p0y887" fmla="*/ 14 h 14"/>
                <a:gd name="p0x888" fmla="*/ 7781 w 8004"/>
                <a:gd name="p0y888" fmla="*/ 14 h 14"/>
                <a:gd name="p0x889" fmla="*/ 7781 w 8004"/>
                <a:gd name="p0y889" fmla="*/ 0 h 14"/>
                <a:gd name="p0x890" fmla="*/ 7825 w 8004"/>
                <a:gd name="p0y890" fmla="*/ 0 h 14"/>
                <a:gd name="p0x891" fmla="*/ 7854 w 8004"/>
                <a:gd name="p0y891" fmla="*/ 0 h 14"/>
                <a:gd name="p0x892" fmla="*/ 7854 w 8004"/>
                <a:gd name="p0y892" fmla="*/ 14 h 14"/>
                <a:gd name="p0x893" fmla="*/ 7825 w 8004"/>
                <a:gd name="p0y893" fmla="*/ 14 h 14"/>
                <a:gd name="p0x894" fmla="*/ 7825 w 8004"/>
                <a:gd name="p0y894" fmla="*/ 0 h 14"/>
                <a:gd name="p0x895" fmla="*/ 7869 w 8004"/>
                <a:gd name="p0y895" fmla="*/ 0 h 14"/>
                <a:gd name="p0x896" fmla="*/ 7899 w 8004"/>
                <a:gd name="p0y896" fmla="*/ 0 h 14"/>
                <a:gd name="p0x897" fmla="*/ 7899 w 8004"/>
                <a:gd name="p0y897" fmla="*/ 14 h 14"/>
                <a:gd name="p0x898" fmla="*/ 7869 w 8004"/>
                <a:gd name="p0y898" fmla="*/ 14 h 14"/>
                <a:gd name="p0x899" fmla="*/ 7869 w 8004"/>
                <a:gd name="p0y899" fmla="*/ 0 h 14"/>
                <a:gd name="p0x900" fmla="*/ 7913 w 8004"/>
                <a:gd name="p0y900" fmla="*/ 0 h 14"/>
                <a:gd name="p0x901" fmla="*/ 7943 w 8004"/>
                <a:gd name="p0y901" fmla="*/ 0 h 14"/>
                <a:gd name="p0x902" fmla="*/ 7943 w 8004"/>
                <a:gd name="p0y902" fmla="*/ 14 h 14"/>
                <a:gd name="p0x903" fmla="*/ 7913 w 8004"/>
                <a:gd name="p0y903" fmla="*/ 14 h 14"/>
                <a:gd name="p0x904" fmla="*/ 7913 w 8004"/>
                <a:gd name="p0y904" fmla="*/ 0 h 14"/>
                <a:gd name="p0x905" fmla="*/ 7957 w 8004"/>
                <a:gd name="p0y905" fmla="*/ 0 h 14"/>
                <a:gd name="p0x906" fmla="*/ 7987 w 8004"/>
                <a:gd name="p0y906" fmla="*/ 0 h 14"/>
                <a:gd name="p0x907" fmla="*/ 7987 w 8004"/>
                <a:gd name="p0y907" fmla="*/ 14 h 14"/>
                <a:gd name="p0x908" fmla="*/ 7957 w 8004"/>
                <a:gd name="p0y908" fmla="*/ 14 h 14"/>
                <a:gd name="p0x909" fmla="*/ 7957 w 8004"/>
                <a:gd name="p0y909" fmla="*/ 0 h 14"/>
                <a:gd name="p0x910" fmla="*/ 8002 w 8004"/>
                <a:gd name="p0y910" fmla="*/ 0 h 14"/>
                <a:gd name="p0x911" fmla="*/ 8004 w 8004"/>
                <a:gd name="p0y911" fmla="*/ 0 h 14"/>
                <a:gd name="p0x912" fmla="*/ 8004 w 8004"/>
                <a:gd name="p0y912" fmla="*/ 14 h 14"/>
                <a:gd name="p0x913" fmla="*/ 8002 w 8004"/>
                <a:gd name="p0y913" fmla="*/ 14 h 14"/>
                <a:gd name="p0x914" fmla="*/ 8002 w 8004"/>
                <a:gd name="p0y914" fmla="*/ 0 h 14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  <a:moveTo>
                    <a:pt x="p0x445" y="p0y445"/>
                  </a:moveTo>
                  <a:lnTo>
                    <a:pt x="p0x446" y="p0y446"/>
                  </a:lnTo>
                  <a:lnTo>
                    <a:pt x="p0x447" y="p0y447"/>
                  </a:lnTo>
                  <a:lnTo>
                    <a:pt x="p0x448" y="p0y448"/>
                  </a:lnTo>
                  <a:lnTo>
                    <a:pt x="p0x449" y="p0y449"/>
                  </a:lnTo>
                  <a:moveTo>
                    <a:pt x="p0x450" y="p0y450"/>
                  </a:moveTo>
                  <a:lnTo>
                    <a:pt x="p0x451" y="p0y451"/>
                  </a:lnTo>
                  <a:lnTo>
                    <a:pt x="p0x452" y="p0y452"/>
                  </a:lnTo>
                  <a:lnTo>
                    <a:pt x="p0x453" y="p0y453"/>
                  </a:lnTo>
                  <a:lnTo>
                    <a:pt x="p0x454" y="p0y454"/>
                  </a:lnTo>
                  <a:moveTo>
                    <a:pt x="p0x455" y="p0y455"/>
                  </a:moveTo>
                  <a:lnTo>
                    <a:pt x="p0x456" y="p0y456"/>
                  </a:lnTo>
                  <a:lnTo>
                    <a:pt x="p0x457" y="p0y457"/>
                  </a:lnTo>
                  <a:lnTo>
                    <a:pt x="p0x458" y="p0y458"/>
                  </a:lnTo>
                  <a:lnTo>
                    <a:pt x="p0x459" y="p0y459"/>
                  </a:lnTo>
                  <a:moveTo>
                    <a:pt x="p0x460" y="p0y460"/>
                  </a:moveTo>
                  <a:lnTo>
                    <a:pt x="p0x461" y="p0y461"/>
                  </a:lnTo>
                  <a:lnTo>
                    <a:pt x="p0x462" y="p0y462"/>
                  </a:lnTo>
                  <a:lnTo>
                    <a:pt x="p0x463" y="p0y463"/>
                  </a:lnTo>
                  <a:lnTo>
                    <a:pt x="p0x464" y="p0y464"/>
                  </a:lnTo>
                  <a:moveTo>
                    <a:pt x="p0x465" y="p0y465"/>
                  </a:moveTo>
                  <a:lnTo>
                    <a:pt x="p0x466" y="p0y466"/>
                  </a:lnTo>
                  <a:lnTo>
                    <a:pt x="p0x467" y="p0y467"/>
                  </a:lnTo>
                  <a:lnTo>
                    <a:pt x="p0x468" y="p0y468"/>
                  </a:lnTo>
                  <a:lnTo>
                    <a:pt x="p0x469" y="p0y469"/>
                  </a:lnTo>
                  <a:moveTo>
                    <a:pt x="p0x470" y="p0y470"/>
                  </a:moveTo>
                  <a:lnTo>
                    <a:pt x="p0x471" y="p0y471"/>
                  </a:lnTo>
                  <a:lnTo>
                    <a:pt x="p0x472" y="p0y472"/>
                  </a:lnTo>
                  <a:lnTo>
                    <a:pt x="p0x473" y="p0y473"/>
                  </a:lnTo>
                  <a:lnTo>
                    <a:pt x="p0x474" y="p0y474"/>
                  </a:lnTo>
                  <a:moveTo>
                    <a:pt x="p0x475" y="p0y475"/>
                  </a:moveTo>
                  <a:lnTo>
                    <a:pt x="p0x476" y="p0y476"/>
                  </a:lnTo>
                  <a:lnTo>
                    <a:pt x="p0x477" y="p0y477"/>
                  </a:lnTo>
                  <a:lnTo>
                    <a:pt x="p0x478" y="p0y478"/>
                  </a:lnTo>
                  <a:lnTo>
                    <a:pt x="p0x479" y="p0y479"/>
                  </a:lnTo>
                  <a:moveTo>
                    <a:pt x="p0x480" y="p0y480"/>
                  </a:moveTo>
                  <a:lnTo>
                    <a:pt x="p0x481" y="p0y481"/>
                  </a:lnTo>
                  <a:lnTo>
                    <a:pt x="p0x482" y="p0y482"/>
                  </a:lnTo>
                  <a:lnTo>
                    <a:pt x="p0x483" y="p0y483"/>
                  </a:lnTo>
                  <a:lnTo>
                    <a:pt x="p0x484" y="p0y484"/>
                  </a:lnTo>
                  <a:moveTo>
                    <a:pt x="p0x485" y="p0y485"/>
                  </a:moveTo>
                  <a:lnTo>
                    <a:pt x="p0x486" y="p0y486"/>
                  </a:lnTo>
                  <a:lnTo>
                    <a:pt x="p0x487" y="p0y487"/>
                  </a:lnTo>
                  <a:lnTo>
                    <a:pt x="p0x488" y="p0y488"/>
                  </a:lnTo>
                  <a:lnTo>
                    <a:pt x="p0x489" y="p0y489"/>
                  </a:lnTo>
                  <a:moveTo>
                    <a:pt x="p0x490" y="p0y490"/>
                  </a:moveTo>
                  <a:lnTo>
                    <a:pt x="p0x491" y="p0y491"/>
                  </a:lnTo>
                  <a:lnTo>
                    <a:pt x="p0x492" y="p0y492"/>
                  </a:lnTo>
                  <a:lnTo>
                    <a:pt x="p0x493" y="p0y493"/>
                  </a:lnTo>
                  <a:lnTo>
                    <a:pt x="p0x494" y="p0y494"/>
                  </a:lnTo>
                  <a:moveTo>
                    <a:pt x="p0x495" y="p0y495"/>
                  </a:moveTo>
                  <a:lnTo>
                    <a:pt x="p0x496" y="p0y496"/>
                  </a:lnTo>
                  <a:lnTo>
                    <a:pt x="p0x497" y="p0y497"/>
                  </a:lnTo>
                  <a:lnTo>
                    <a:pt x="p0x498" y="p0y498"/>
                  </a:lnTo>
                  <a:lnTo>
                    <a:pt x="p0x499" y="p0y499"/>
                  </a:lnTo>
                  <a:moveTo>
                    <a:pt x="p0x500" y="p0y500"/>
                  </a:moveTo>
                  <a:lnTo>
                    <a:pt x="p0x501" y="p0y501"/>
                  </a:lnTo>
                  <a:lnTo>
                    <a:pt x="p0x502" y="p0y502"/>
                  </a:lnTo>
                  <a:lnTo>
                    <a:pt x="p0x503" y="p0y503"/>
                  </a:lnTo>
                  <a:lnTo>
                    <a:pt x="p0x504" y="p0y504"/>
                  </a:lnTo>
                  <a:moveTo>
                    <a:pt x="p0x505" y="p0y505"/>
                  </a:moveTo>
                  <a:lnTo>
                    <a:pt x="p0x506" y="p0y506"/>
                  </a:lnTo>
                  <a:lnTo>
                    <a:pt x="p0x507" y="p0y507"/>
                  </a:lnTo>
                  <a:lnTo>
                    <a:pt x="p0x508" y="p0y508"/>
                  </a:lnTo>
                  <a:lnTo>
                    <a:pt x="p0x509" y="p0y509"/>
                  </a:lnTo>
                  <a:moveTo>
                    <a:pt x="p0x510" y="p0y510"/>
                  </a:moveTo>
                  <a:lnTo>
                    <a:pt x="p0x511" y="p0y511"/>
                  </a:lnTo>
                  <a:lnTo>
                    <a:pt x="p0x512" y="p0y512"/>
                  </a:lnTo>
                  <a:lnTo>
                    <a:pt x="p0x513" y="p0y513"/>
                  </a:lnTo>
                  <a:lnTo>
                    <a:pt x="p0x514" y="p0y514"/>
                  </a:lnTo>
                  <a:moveTo>
                    <a:pt x="p0x515" y="p0y515"/>
                  </a:moveTo>
                  <a:lnTo>
                    <a:pt x="p0x516" y="p0y516"/>
                  </a:lnTo>
                  <a:lnTo>
                    <a:pt x="p0x517" y="p0y517"/>
                  </a:lnTo>
                  <a:lnTo>
                    <a:pt x="p0x518" y="p0y518"/>
                  </a:lnTo>
                  <a:lnTo>
                    <a:pt x="p0x519" y="p0y519"/>
                  </a:lnTo>
                  <a:moveTo>
                    <a:pt x="p0x520" y="p0y520"/>
                  </a:moveTo>
                  <a:lnTo>
                    <a:pt x="p0x521" y="p0y521"/>
                  </a:lnTo>
                  <a:lnTo>
                    <a:pt x="p0x522" y="p0y522"/>
                  </a:lnTo>
                  <a:lnTo>
                    <a:pt x="p0x523" y="p0y523"/>
                  </a:lnTo>
                  <a:lnTo>
                    <a:pt x="p0x524" y="p0y524"/>
                  </a:lnTo>
                  <a:moveTo>
                    <a:pt x="p0x525" y="p0y525"/>
                  </a:moveTo>
                  <a:lnTo>
                    <a:pt x="p0x526" y="p0y526"/>
                  </a:lnTo>
                  <a:lnTo>
                    <a:pt x="p0x527" y="p0y527"/>
                  </a:lnTo>
                  <a:lnTo>
                    <a:pt x="p0x528" y="p0y528"/>
                  </a:lnTo>
                  <a:lnTo>
                    <a:pt x="p0x529" y="p0y529"/>
                  </a:lnTo>
                  <a:moveTo>
                    <a:pt x="p0x530" y="p0y530"/>
                  </a:moveTo>
                  <a:lnTo>
                    <a:pt x="p0x531" y="p0y531"/>
                  </a:lnTo>
                  <a:lnTo>
                    <a:pt x="p0x532" y="p0y532"/>
                  </a:lnTo>
                  <a:lnTo>
                    <a:pt x="p0x533" y="p0y533"/>
                  </a:lnTo>
                  <a:lnTo>
                    <a:pt x="p0x534" y="p0y534"/>
                  </a:lnTo>
                  <a:moveTo>
                    <a:pt x="p0x535" y="p0y535"/>
                  </a:moveTo>
                  <a:lnTo>
                    <a:pt x="p0x536" y="p0y536"/>
                  </a:lnTo>
                  <a:lnTo>
                    <a:pt x="p0x537" y="p0y537"/>
                  </a:lnTo>
                  <a:lnTo>
                    <a:pt x="p0x538" y="p0y538"/>
                  </a:lnTo>
                  <a:lnTo>
                    <a:pt x="p0x539" y="p0y539"/>
                  </a:lnTo>
                  <a:moveTo>
                    <a:pt x="p0x540" y="p0y540"/>
                  </a:moveTo>
                  <a:lnTo>
                    <a:pt x="p0x541" y="p0y541"/>
                  </a:lnTo>
                  <a:lnTo>
                    <a:pt x="p0x542" y="p0y542"/>
                  </a:lnTo>
                  <a:lnTo>
                    <a:pt x="p0x543" y="p0y543"/>
                  </a:lnTo>
                  <a:lnTo>
                    <a:pt x="p0x544" y="p0y544"/>
                  </a:lnTo>
                  <a:moveTo>
                    <a:pt x="p0x545" y="p0y545"/>
                  </a:moveTo>
                  <a:lnTo>
                    <a:pt x="p0x546" y="p0y546"/>
                  </a:lnTo>
                  <a:lnTo>
                    <a:pt x="p0x547" y="p0y547"/>
                  </a:lnTo>
                  <a:lnTo>
                    <a:pt x="p0x548" y="p0y548"/>
                  </a:lnTo>
                  <a:lnTo>
                    <a:pt x="p0x549" y="p0y549"/>
                  </a:lnTo>
                  <a:moveTo>
                    <a:pt x="p0x550" y="p0y550"/>
                  </a:moveTo>
                  <a:lnTo>
                    <a:pt x="p0x551" y="p0y551"/>
                  </a:lnTo>
                  <a:lnTo>
                    <a:pt x="p0x552" y="p0y552"/>
                  </a:lnTo>
                  <a:lnTo>
                    <a:pt x="p0x553" y="p0y553"/>
                  </a:lnTo>
                  <a:lnTo>
                    <a:pt x="p0x554" y="p0y554"/>
                  </a:lnTo>
                  <a:moveTo>
                    <a:pt x="p0x555" y="p0y555"/>
                  </a:moveTo>
                  <a:lnTo>
                    <a:pt x="p0x556" y="p0y556"/>
                  </a:lnTo>
                  <a:lnTo>
                    <a:pt x="p0x557" y="p0y557"/>
                  </a:lnTo>
                  <a:lnTo>
                    <a:pt x="p0x558" y="p0y558"/>
                  </a:lnTo>
                  <a:lnTo>
                    <a:pt x="p0x559" y="p0y559"/>
                  </a:lnTo>
                  <a:moveTo>
                    <a:pt x="p0x560" y="p0y560"/>
                  </a:moveTo>
                  <a:lnTo>
                    <a:pt x="p0x561" y="p0y561"/>
                  </a:lnTo>
                  <a:lnTo>
                    <a:pt x="p0x562" y="p0y562"/>
                  </a:lnTo>
                  <a:lnTo>
                    <a:pt x="p0x563" y="p0y563"/>
                  </a:lnTo>
                  <a:lnTo>
                    <a:pt x="p0x564" y="p0y564"/>
                  </a:lnTo>
                  <a:moveTo>
                    <a:pt x="p0x565" y="p0y565"/>
                  </a:moveTo>
                  <a:lnTo>
                    <a:pt x="p0x566" y="p0y566"/>
                  </a:lnTo>
                  <a:lnTo>
                    <a:pt x="p0x567" y="p0y567"/>
                  </a:lnTo>
                  <a:lnTo>
                    <a:pt x="p0x568" y="p0y568"/>
                  </a:lnTo>
                  <a:lnTo>
                    <a:pt x="p0x569" y="p0y569"/>
                  </a:lnTo>
                  <a:moveTo>
                    <a:pt x="p0x570" y="p0y570"/>
                  </a:moveTo>
                  <a:lnTo>
                    <a:pt x="p0x571" y="p0y571"/>
                  </a:lnTo>
                  <a:lnTo>
                    <a:pt x="p0x572" y="p0y572"/>
                  </a:lnTo>
                  <a:lnTo>
                    <a:pt x="p0x573" y="p0y573"/>
                  </a:lnTo>
                  <a:lnTo>
                    <a:pt x="p0x574" y="p0y574"/>
                  </a:lnTo>
                  <a:moveTo>
                    <a:pt x="p0x575" y="p0y575"/>
                  </a:moveTo>
                  <a:lnTo>
                    <a:pt x="p0x576" y="p0y576"/>
                  </a:lnTo>
                  <a:lnTo>
                    <a:pt x="p0x577" y="p0y577"/>
                  </a:lnTo>
                  <a:lnTo>
                    <a:pt x="p0x578" y="p0y578"/>
                  </a:lnTo>
                  <a:lnTo>
                    <a:pt x="p0x579" y="p0y579"/>
                  </a:lnTo>
                  <a:moveTo>
                    <a:pt x="p0x580" y="p0y580"/>
                  </a:moveTo>
                  <a:lnTo>
                    <a:pt x="p0x581" y="p0y581"/>
                  </a:lnTo>
                  <a:lnTo>
                    <a:pt x="p0x582" y="p0y582"/>
                  </a:lnTo>
                  <a:lnTo>
                    <a:pt x="p0x583" y="p0y583"/>
                  </a:lnTo>
                  <a:lnTo>
                    <a:pt x="p0x584" y="p0y584"/>
                  </a:lnTo>
                  <a:moveTo>
                    <a:pt x="p0x585" y="p0y585"/>
                  </a:moveTo>
                  <a:lnTo>
                    <a:pt x="p0x586" y="p0y586"/>
                  </a:lnTo>
                  <a:lnTo>
                    <a:pt x="p0x587" y="p0y587"/>
                  </a:lnTo>
                  <a:lnTo>
                    <a:pt x="p0x588" y="p0y588"/>
                  </a:lnTo>
                  <a:lnTo>
                    <a:pt x="p0x589" y="p0y589"/>
                  </a:lnTo>
                  <a:moveTo>
                    <a:pt x="p0x590" y="p0y590"/>
                  </a:moveTo>
                  <a:lnTo>
                    <a:pt x="p0x591" y="p0y591"/>
                  </a:lnTo>
                  <a:lnTo>
                    <a:pt x="p0x592" y="p0y592"/>
                  </a:lnTo>
                  <a:lnTo>
                    <a:pt x="p0x593" y="p0y593"/>
                  </a:lnTo>
                  <a:lnTo>
                    <a:pt x="p0x594" y="p0y594"/>
                  </a:lnTo>
                  <a:moveTo>
                    <a:pt x="p0x595" y="p0y595"/>
                  </a:moveTo>
                  <a:lnTo>
                    <a:pt x="p0x596" y="p0y596"/>
                  </a:lnTo>
                  <a:lnTo>
                    <a:pt x="p0x597" y="p0y597"/>
                  </a:lnTo>
                  <a:lnTo>
                    <a:pt x="p0x598" y="p0y598"/>
                  </a:lnTo>
                  <a:lnTo>
                    <a:pt x="p0x599" y="p0y599"/>
                  </a:lnTo>
                  <a:moveTo>
                    <a:pt x="p0x600" y="p0y600"/>
                  </a:moveTo>
                  <a:lnTo>
                    <a:pt x="p0x601" y="p0y601"/>
                  </a:lnTo>
                  <a:lnTo>
                    <a:pt x="p0x602" y="p0y602"/>
                  </a:lnTo>
                  <a:lnTo>
                    <a:pt x="p0x603" y="p0y603"/>
                  </a:lnTo>
                  <a:lnTo>
                    <a:pt x="p0x604" y="p0y604"/>
                  </a:lnTo>
                  <a:moveTo>
                    <a:pt x="p0x605" y="p0y605"/>
                  </a:moveTo>
                  <a:lnTo>
                    <a:pt x="p0x606" y="p0y606"/>
                  </a:lnTo>
                  <a:lnTo>
                    <a:pt x="p0x607" y="p0y607"/>
                  </a:lnTo>
                  <a:lnTo>
                    <a:pt x="p0x608" y="p0y608"/>
                  </a:lnTo>
                  <a:lnTo>
                    <a:pt x="p0x609" y="p0y609"/>
                  </a:lnTo>
                  <a:moveTo>
                    <a:pt x="p0x610" y="p0y610"/>
                  </a:moveTo>
                  <a:lnTo>
                    <a:pt x="p0x611" y="p0y611"/>
                  </a:lnTo>
                  <a:lnTo>
                    <a:pt x="p0x612" y="p0y612"/>
                  </a:lnTo>
                  <a:lnTo>
                    <a:pt x="p0x613" y="p0y613"/>
                  </a:lnTo>
                  <a:lnTo>
                    <a:pt x="p0x614" y="p0y614"/>
                  </a:lnTo>
                  <a:moveTo>
                    <a:pt x="p0x615" y="p0y615"/>
                  </a:moveTo>
                  <a:lnTo>
                    <a:pt x="p0x616" y="p0y616"/>
                  </a:lnTo>
                  <a:lnTo>
                    <a:pt x="p0x617" y="p0y617"/>
                  </a:lnTo>
                  <a:lnTo>
                    <a:pt x="p0x618" y="p0y618"/>
                  </a:lnTo>
                  <a:lnTo>
                    <a:pt x="p0x619" y="p0y619"/>
                  </a:lnTo>
                  <a:moveTo>
                    <a:pt x="p0x620" y="p0y620"/>
                  </a:moveTo>
                  <a:lnTo>
                    <a:pt x="p0x621" y="p0y621"/>
                  </a:lnTo>
                  <a:lnTo>
                    <a:pt x="p0x622" y="p0y622"/>
                  </a:lnTo>
                  <a:lnTo>
                    <a:pt x="p0x623" y="p0y623"/>
                  </a:lnTo>
                  <a:lnTo>
                    <a:pt x="p0x624" y="p0y624"/>
                  </a:lnTo>
                  <a:moveTo>
                    <a:pt x="p0x625" y="p0y625"/>
                  </a:moveTo>
                  <a:lnTo>
                    <a:pt x="p0x626" y="p0y626"/>
                  </a:lnTo>
                  <a:lnTo>
                    <a:pt x="p0x627" y="p0y627"/>
                  </a:lnTo>
                  <a:lnTo>
                    <a:pt x="p0x628" y="p0y628"/>
                  </a:lnTo>
                  <a:lnTo>
                    <a:pt x="p0x629" y="p0y629"/>
                  </a:lnTo>
                  <a:moveTo>
                    <a:pt x="p0x630" y="p0y630"/>
                  </a:moveTo>
                  <a:lnTo>
                    <a:pt x="p0x631" y="p0y631"/>
                  </a:lnTo>
                  <a:lnTo>
                    <a:pt x="p0x632" y="p0y632"/>
                  </a:lnTo>
                  <a:lnTo>
                    <a:pt x="p0x633" y="p0y633"/>
                  </a:lnTo>
                  <a:lnTo>
                    <a:pt x="p0x634" y="p0y634"/>
                  </a:lnTo>
                  <a:moveTo>
                    <a:pt x="p0x635" y="p0y635"/>
                  </a:moveTo>
                  <a:lnTo>
                    <a:pt x="p0x636" y="p0y636"/>
                  </a:lnTo>
                  <a:lnTo>
                    <a:pt x="p0x637" y="p0y637"/>
                  </a:lnTo>
                  <a:lnTo>
                    <a:pt x="p0x638" y="p0y638"/>
                  </a:lnTo>
                  <a:lnTo>
                    <a:pt x="p0x639" y="p0y639"/>
                  </a:lnTo>
                  <a:moveTo>
                    <a:pt x="p0x640" y="p0y640"/>
                  </a:moveTo>
                  <a:lnTo>
                    <a:pt x="p0x641" y="p0y641"/>
                  </a:lnTo>
                  <a:lnTo>
                    <a:pt x="p0x642" y="p0y642"/>
                  </a:lnTo>
                  <a:lnTo>
                    <a:pt x="p0x643" y="p0y643"/>
                  </a:lnTo>
                  <a:lnTo>
                    <a:pt x="p0x644" y="p0y644"/>
                  </a:lnTo>
                  <a:moveTo>
                    <a:pt x="p0x645" y="p0y645"/>
                  </a:moveTo>
                  <a:lnTo>
                    <a:pt x="p0x646" y="p0y646"/>
                  </a:lnTo>
                  <a:lnTo>
                    <a:pt x="p0x647" y="p0y647"/>
                  </a:lnTo>
                  <a:lnTo>
                    <a:pt x="p0x648" y="p0y648"/>
                  </a:lnTo>
                  <a:lnTo>
                    <a:pt x="p0x649" y="p0y649"/>
                  </a:lnTo>
                  <a:moveTo>
                    <a:pt x="p0x650" y="p0y650"/>
                  </a:moveTo>
                  <a:lnTo>
                    <a:pt x="p0x651" y="p0y651"/>
                  </a:lnTo>
                  <a:lnTo>
                    <a:pt x="p0x652" y="p0y652"/>
                  </a:lnTo>
                  <a:lnTo>
                    <a:pt x="p0x653" y="p0y653"/>
                  </a:lnTo>
                  <a:lnTo>
                    <a:pt x="p0x654" y="p0y654"/>
                  </a:lnTo>
                  <a:moveTo>
                    <a:pt x="p0x655" y="p0y655"/>
                  </a:moveTo>
                  <a:lnTo>
                    <a:pt x="p0x656" y="p0y656"/>
                  </a:lnTo>
                  <a:lnTo>
                    <a:pt x="p0x657" y="p0y657"/>
                  </a:lnTo>
                  <a:lnTo>
                    <a:pt x="p0x658" y="p0y658"/>
                  </a:lnTo>
                  <a:lnTo>
                    <a:pt x="p0x659" y="p0y659"/>
                  </a:lnTo>
                  <a:moveTo>
                    <a:pt x="p0x660" y="p0y660"/>
                  </a:moveTo>
                  <a:lnTo>
                    <a:pt x="p0x661" y="p0y661"/>
                  </a:lnTo>
                  <a:lnTo>
                    <a:pt x="p0x662" y="p0y662"/>
                  </a:lnTo>
                  <a:lnTo>
                    <a:pt x="p0x663" y="p0y663"/>
                  </a:lnTo>
                  <a:lnTo>
                    <a:pt x="p0x664" y="p0y664"/>
                  </a:lnTo>
                  <a:moveTo>
                    <a:pt x="p0x665" y="p0y665"/>
                  </a:moveTo>
                  <a:lnTo>
                    <a:pt x="p0x666" y="p0y666"/>
                  </a:lnTo>
                  <a:lnTo>
                    <a:pt x="p0x667" y="p0y667"/>
                  </a:lnTo>
                  <a:lnTo>
                    <a:pt x="p0x668" y="p0y668"/>
                  </a:lnTo>
                  <a:lnTo>
                    <a:pt x="p0x669" y="p0y669"/>
                  </a:lnTo>
                  <a:moveTo>
                    <a:pt x="p0x670" y="p0y670"/>
                  </a:moveTo>
                  <a:lnTo>
                    <a:pt x="p0x671" y="p0y671"/>
                  </a:lnTo>
                  <a:lnTo>
                    <a:pt x="p0x672" y="p0y672"/>
                  </a:lnTo>
                  <a:lnTo>
                    <a:pt x="p0x673" y="p0y673"/>
                  </a:lnTo>
                  <a:lnTo>
                    <a:pt x="p0x674" y="p0y674"/>
                  </a:lnTo>
                  <a:moveTo>
                    <a:pt x="p0x675" y="p0y675"/>
                  </a:moveTo>
                  <a:lnTo>
                    <a:pt x="p0x676" y="p0y676"/>
                  </a:lnTo>
                  <a:lnTo>
                    <a:pt x="p0x677" y="p0y677"/>
                  </a:lnTo>
                  <a:lnTo>
                    <a:pt x="p0x678" y="p0y678"/>
                  </a:lnTo>
                  <a:lnTo>
                    <a:pt x="p0x679" y="p0y679"/>
                  </a:lnTo>
                  <a:moveTo>
                    <a:pt x="p0x680" y="p0y680"/>
                  </a:moveTo>
                  <a:lnTo>
                    <a:pt x="p0x681" y="p0y681"/>
                  </a:lnTo>
                  <a:lnTo>
                    <a:pt x="p0x682" y="p0y682"/>
                  </a:lnTo>
                  <a:lnTo>
                    <a:pt x="p0x683" y="p0y683"/>
                  </a:lnTo>
                  <a:lnTo>
                    <a:pt x="p0x684" y="p0y684"/>
                  </a:lnTo>
                  <a:moveTo>
                    <a:pt x="p0x685" y="p0y685"/>
                  </a:moveTo>
                  <a:lnTo>
                    <a:pt x="p0x686" y="p0y686"/>
                  </a:lnTo>
                  <a:lnTo>
                    <a:pt x="p0x687" y="p0y687"/>
                  </a:lnTo>
                  <a:lnTo>
                    <a:pt x="p0x688" y="p0y688"/>
                  </a:lnTo>
                  <a:lnTo>
                    <a:pt x="p0x689" y="p0y689"/>
                  </a:lnTo>
                  <a:moveTo>
                    <a:pt x="p0x690" y="p0y690"/>
                  </a:moveTo>
                  <a:lnTo>
                    <a:pt x="p0x691" y="p0y691"/>
                  </a:lnTo>
                  <a:lnTo>
                    <a:pt x="p0x692" y="p0y692"/>
                  </a:lnTo>
                  <a:lnTo>
                    <a:pt x="p0x693" y="p0y693"/>
                  </a:lnTo>
                  <a:lnTo>
                    <a:pt x="p0x694" y="p0y694"/>
                  </a:lnTo>
                  <a:moveTo>
                    <a:pt x="p0x695" y="p0y695"/>
                  </a:moveTo>
                  <a:lnTo>
                    <a:pt x="p0x696" y="p0y696"/>
                  </a:lnTo>
                  <a:lnTo>
                    <a:pt x="p0x697" y="p0y697"/>
                  </a:lnTo>
                  <a:lnTo>
                    <a:pt x="p0x698" y="p0y698"/>
                  </a:lnTo>
                  <a:lnTo>
                    <a:pt x="p0x699" y="p0y699"/>
                  </a:lnTo>
                  <a:moveTo>
                    <a:pt x="p0x700" y="p0y700"/>
                  </a:moveTo>
                  <a:lnTo>
                    <a:pt x="p0x701" y="p0y701"/>
                  </a:lnTo>
                  <a:lnTo>
                    <a:pt x="p0x702" y="p0y702"/>
                  </a:lnTo>
                  <a:lnTo>
                    <a:pt x="p0x703" y="p0y703"/>
                  </a:lnTo>
                  <a:lnTo>
                    <a:pt x="p0x704" y="p0y704"/>
                  </a:lnTo>
                  <a:moveTo>
                    <a:pt x="p0x705" y="p0y705"/>
                  </a:moveTo>
                  <a:lnTo>
                    <a:pt x="p0x706" y="p0y706"/>
                  </a:lnTo>
                  <a:lnTo>
                    <a:pt x="p0x707" y="p0y707"/>
                  </a:lnTo>
                  <a:lnTo>
                    <a:pt x="p0x708" y="p0y708"/>
                  </a:lnTo>
                  <a:lnTo>
                    <a:pt x="p0x709" y="p0y709"/>
                  </a:lnTo>
                  <a:moveTo>
                    <a:pt x="p0x710" y="p0y710"/>
                  </a:moveTo>
                  <a:lnTo>
                    <a:pt x="p0x711" y="p0y711"/>
                  </a:lnTo>
                  <a:lnTo>
                    <a:pt x="p0x712" y="p0y712"/>
                  </a:lnTo>
                  <a:lnTo>
                    <a:pt x="p0x713" y="p0y713"/>
                  </a:lnTo>
                  <a:lnTo>
                    <a:pt x="p0x714" y="p0y714"/>
                  </a:lnTo>
                  <a:moveTo>
                    <a:pt x="p0x715" y="p0y715"/>
                  </a:moveTo>
                  <a:lnTo>
                    <a:pt x="p0x716" y="p0y716"/>
                  </a:lnTo>
                  <a:lnTo>
                    <a:pt x="p0x717" y="p0y717"/>
                  </a:lnTo>
                  <a:lnTo>
                    <a:pt x="p0x718" y="p0y718"/>
                  </a:lnTo>
                  <a:lnTo>
                    <a:pt x="p0x719" y="p0y719"/>
                  </a:lnTo>
                  <a:moveTo>
                    <a:pt x="p0x720" y="p0y720"/>
                  </a:moveTo>
                  <a:lnTo>
                    <a:pt x="p0x721" y="p0y721"/>
                  </a:lnTo>
                  <a:lnTo>
                    <a:pt x="p0x722" y="p0y722"/>
                  </a:lnTo>
                  <a:lnTo>
                    <a:pt x="p0x723" y="p0y723"/>
                  </a:lnTo>
                  <a:lnTo>
                    <a:pt x="p0x724" y="p0y724"/>
                  </a:lnTo>
                  <a:moveTo>
                    <a:pt x="p0x725" y="p0y725"/>
                  </a:moveTo>
                  <a:lnTo>
                    <a:pt x="p0x726" y="p0y726"/>
                  </a:lnTo>
                  <a:lnTo>
                    <a:pt x="p0x727" y="p0y727"/>
                  </a:lnTo>
                  <a:lnTo>
                    <a:pt x="p0x728" y="p0y728"/>
                  </a:lnTo>
                  <a:lnTo>
                    <a:pt x="p0x729" y="p0y729"/>
                  </a:lnTo>
                  <a:moveTo>
                    <a:pt x="p0x730" y="p0y730"/>
                  </a:moveTo>
                  <a:lnTo>
                    <a:pt x="p0x731" y="p0y731"/>
                  </a:lnTo>
                  <a:lnTo>
                    <a:pt x="p0x732" y="p0y732"/>
                  </a:lnTo>
                  <a:lnTo>
                    <a:pt x="p0x733" y="p0y733"/>
                  </a:lnTo>
                  <a:lnTo>
                    <a:pt x="p0x734" y="p0y734"/>
                  </a:lnTo>
                  <a:moveTo>
                    <a:pt x="p0x735" y="p0y735"/>
                  </a:moveTo>
                  <a:lnTo>
                    <a:pt x="p0x736" y="p0y736"/>
                  </a:lnTo>
                  <a:lnTo>
                    <a:pt x="p0x737" y="p0y737"/>
                  </a:lnTo>
                  <a:lnTo>
                    <a:pt x="p0x738" y="p0y738"/>
                  </a:lnTo>
                  <a:lnTo>
                    <a:pt x="p0x739" y="p0y739"/>
                  </a:lnTo>
                  <a:moveTo>
                    <a:pt x="p0x740" y="p0y740"/>
                  </a:moveTo>
                  <a:lnTo>
                    <a:pt x="p0x741" y="p0y741"/>
                  </a:lnTo>
                  <a:lnTo>
                    <a:pt x="p0x742" y="p0y742"/>
                  </a:lnTo>
                  <a:lnTo>
                    <a:pt x="p0x743" y="p0y743"/>
                  </a:lnTo>
                  <a:lnTo>
                    <a:pt x="p0x744" y="p0y744"/>
                  </a:lnTo>
                  <a:moveTo>
                    <a:pt x="p0x745" y="p0y745"/>
                  </a:moveTo>
                  <a:lnTo>
                    <a:pt x="p0x746" y="p0y746"/>
                  </a:lnTo>
                  <a:lnTo>
                    <a:pt x="p0x747" y="p0y747"/>
                  </a:lnTo>
                  <a:lnTo>
                    <a:pt x="p0x748" y="p0y748"/>
                  </a:lnTo>
                  <a:lnTo>
                    <a:pt x="p0x749" y="p0y749"/>
                  </a:lnTo>
                  <a:moveTo>
                    <a:pt x="p0x750" y="p0y750"/>
                  </a:moveTo>
                  <a:lnTo>
                    <a:pt x="p0x751" y="p0y751"/>
                  </a:lnTo>
                  <a:lnTo>
                    <a:pt x="p0x752" y="p0y752"/>
                  </a:lnTo>
                  <a:lnTo>
                    <a:pt x="p0x753" y="p0y753"/>
                  </a:lnTo>
                  <a:lnTo>
                    <a:pt x="p0x754" y="p0y754"/>
                  </a:lnTo>
                  <a:moveTo>
                    <a:pt x="p0x755" y="p0y755"/>
                  </a:moveTo>
                  <a:lnTo>
                    <a:pt x="p0x756" y="p0y756"/>
                  </a:lnTo>
                  <a:lnTo>
                    <a:pt x="p0x757" y="p0y757"/>
                  </a:lnTo>
                  <a:lnTo>
                    <a:pt x="p0x758" y="p0y758"/>
                  </a:lnTo>
                  <a:lnTo>
                    <a:pt x="p0x759" y="p0y759"/>
                  </a:lnTo>
                  <a:moveTo>
                    <a:pt x="p0x760" y="p0y760"/>
                  </a:moveTo>
                  <a:lnTo>
                    <a:pt x="p0x761" y="p0y761"/>
                  </a:lnTo>
                  <a:lnTo>
                    <a:pt x="p0x762" y="p0y762"/>
                  </a:lnTo>
                  <a:lnTo>
                    <a:pt x="p0x763" y="p0y763"/>
                  </a:lnTo>
                  <a:lnTo>
                    <a:pt x="p0x764" y="p0y764"/>
                  </a:lnTo>
                  <a:moveTo>
                    <a:pt x="p0x765" y="p0y765"/>
                  </a:moveTo>
                  <a:lnTo>
                    <a:pt x="p0x766" y="p0y766"/>
                  </a:lnTo>
                  <a:lnTo>
                    <a:pt x="p0x767" y="p0y767"/>
                  </a:lnTo>
                  <a:lnTo>
                    <a:pt x="p0x768" y="p0y768"/>
                  </a:lnTo>
                  <a:lnTo>
                    <a:pt x="p0x769" y="p0y769"/>
                  </a:lnTo>
                  <a:moveTo>
                    <a:pt x="p0x770" y="p0y770"/>
                  </a:moveTo>
                  <a:lnTo>
                    <a:pt x="p0x771" y="p0y771"/>
                  </a:lnTo>
                  <a:lnTo>
                    <a:pt x="p0x772" y="p0y772"/>
                  </a:lnTo>
                  <a:lnTo>
                    <a:pt x="p0x773" y="p0y773"/>
                  </a:lnTo>
                  <a:lnTo>
                    <a:pt x="p0x774" y="p0y774"/>
                  </a:lnTo>
                  <a:moveTo>
                    <a:pt x="p0x775" y="p0y775"/>
                  </a:moveTo>
                  <a:lnTo>
                    <a:pt x="p0x776" y="p0y776"/>
                  </a:lnTo>
                  <a:lnTo>
                    <a:pt x="p0x777" y="p0y777"/>
                  </a:lnTo>
                  <a:lnTo>
                    <a:pt x="p0x778" y="p0y778"/>
                  </a:lnTo>
                  <a:lnTo>
                    <a:pt x="p0x779" y="p0y779"/>
                  </a:lnTo>
                  <a:moveTo>
                    <a:pt x="p0x780" y="p0y780"/>
                  </a:moveTo>
                  <a:lnTo>
                    <a:pt x="p0x781" y="p0y781"/>
                  </a:lnTo>
                  <a:lnTo>
                    <a:pt x="p0x782" y="p0y782"/>
                  </a:lnTo>
                  <a:lnTo>
                    <a:pt x="p0x783" y="p0y783"/>
                  </a:lnTo>
                  <a:lnTo>
                    <a:pt x="p0x784" y="p0y784"/>
                  </a:lnTo>
                  <a:moveTo>
                    <a:pt x="p0x785" y="p0y785"/>
                  </a:moveTo>
                  <a:lnTo>
                    <a:pt x="p0x786" y="p0y786"/>
                  </a:lnTo>
                  <a:lnTo>
                    <a:pt x="p0x787" y="p0y787"/>
                  </a:lnTo>
                  <a:lnTo>
                    <a:pt x="p0x788" y="p0y788"/>
                  </a:lnTo>
                  <a:lnTo>
                    <a:pt x="p0x789" y="p0y789"/>
                  </a:lnTo>
                  <a:moveTo>
                    <a:pt x="p0x790" y="p0y790"/>
                  </a:moveTo>
                  <a:lnTo>
                    <a:pt x="p0x791" y="p0y791"/>
                  </a:lnTo>
                  <a:lnTo>
                    <a:pt x="p0x792" y="p0y792"/>
                  </a:lnTo>
                  <a:lnTo>
                    <a:pt x="p0x793" y="p0y793"/>
                  </a:lnTo>
                  <a:lnTo>
                    <a:pt x="p0x794" y="p0y794"/>
                  </a:lnTo>
                  <a:moveTo>
                    <a:pt x="p0x795" y="p0y795"/>
                  </a:moveTo>
                  <a:lnTo>
                    <a:pt x="p0x796" y="p0y796"/>
                  </a:lnTo>
                  <a:lnTo>
                    <a:pt x="p0x797" y="p0y797"/>
                  </a:lnTo>
                  <a:lnTo>
                    <a:pt x="p0x798" y="p0y798"/>
                  </a:lnTo>
                  <a:lnTo>
                    <a:pt x="p0x799" y="p0y799"/>
                  </a:lnTo>
                  <a:moveTo>
                    <a:pt x="p0x800" y="p0y800"/>
                  </a:moveTo>
                  <a:lnTo>
                    <a:pt x="p0x801" y="p0y801"/>
                  </a:lnTo>
                  <a:lnTo>
                    <a:pt x="p0x802" y="p0y802"/>
                  </a:lnTo>
                  <a:lnTo>
                    <a:pt x="p0x803" y="p0y803"/>
                  </a:lnTo>
                  <a:lnTo>
                    <a:pt x="p0x804" y="p0y804"/>
                  </a:lnTo>
                  <a:moveTo>
                    <a:pt x="p0x805" y="p0y805"/>
                  </a:moveTo>
                  <a:lnTo>
                    <a:pt x="p0x806" y="p0y806"/>
                  </a:lnTo>
                  <a:lnTo>
                    <a:pt x="p0x807" y="p0y807"/>
                  </a:lnTo>
                  <a:lnTo>
                    <a:pt x="p0x808" y="p0y808"/>
                  </a:lnTo>
                  <a:lnTo>
                    <a:pt x="p0x809" y="p0y809"/>
                  </a:lnTo>
                  <a:moveTo>
                    <a:pt x="p0x810" y="p0y810"/>
                  </a:moveTo>
                  <a:lnTo>
                    <a:pt x="p0x811" y="p0y811"/>
                  </a:lnTo>
                  <a:lnTo>
                    <a:pt x="p0x812" y="p0y812"/>
                  </a:lnTo>
                  <a:lnTo>
                    <a:pt x="p0x813" y="p0y813"/>
                  </a:lnTo>
                  <a:lnTo>
                    <a:pt x="p0x814" y="p0y814"/>
                  </a:lnTo>
                  <a:moveTo>
                    <a:pt x="p0x815" y="p0y815"/>
                  </a:moveTo>
                  <a:lnTo>
                    <a:pt x="p0x816" y="p0y816"/>
                  </a:lnTo>
                  <a:lnTo>
                    <a:pt x="p0x817" y="p0y817"/>
                  </a:lnTo>
                  <a:lnTo>
                    <a:pt x="p0x818" y="p0y818"/>
                  </a:lnTo>
                  <a:lnTo>
                    <a:pt x="p0x819" y="p0y819"/>
                  </a:lnTo>
                  <a:moveTo>
                    <a:pt x="p0x820" y="p0y820"/>
                  </a:moveTo>
                  <a:lnTo>
                    <a:pt x="p0x821" y="p0y821"/>
                  </a:lnTo>
                  <a:lnTo>
                    <a:pt x="p0x822" y="p0y822"/>
                  </a:lnTo>
                  <a:lnTo>
                    <a:pt x="p0x823" y="p0y823"/>
                  </a:lnTo>
                  <a:lnTo>
                    <a:pt x="p0x824" y="p0y824"/>
                  </a:lnTo>
                  <a:moveTo>
                    <a:pt x="p0x825" y="p0y825"/>
                  </a:moveTo>
                  <a:lnTo>
                    <a:pt x="p0x826" y="p0y826"/>
                  </a:lnTo>
                  <a:lnTo>
                    <a:pt x="p0x827" y="p0y827"/>
                  </a:lnTo>
                  <a:lnTo>
                    <a:pt x="p0x828" y="p0y828"/>
                  </a:lnTo>
                  <a:lnTo>
                    <a:pt x="p0x829" y="p0y829"/>
                  </a:lnTo>
                  <a:moveTo>
                    <a:pt x="p0x830" y="p0y830"/>
                  </a:moveTo>
                  <a:lnTo>
                    <a:pt x="p0x831" y="p0y831"/>
                  </a:lnTo>
                  <a:lnTo>
                    <a:pt x="p0x832" y="p0y832"/>
                  </a:lnTo>
                  <a:lnTo>
                    <a:pt x="p0x833" y="p0y833"/>
                  </a:lnTo>
                  <a:lnTo>
                    <a:pt x="p0x834" y="p0y834"/>
                  </a:lnTo>
                  <a:moveTo>
                    <a:pt x="p0x835" y="p0y835"/>
                  </a:moveTo>
                  <a:lnTo>
                    <a:pt x="p0x836" y="p0y836"/>
                  </a:lnTo>
                  <a:lnTo>
                    <a:pt x="p0x837" y="p0y837"/>
                  </a:lnTo>
                  <a:lnTo>
                    <a:pt x="p0x838" y="p0y838"/>
                  </a:lnTo>
                  <a:lnTo>
                    <a:pt x="p0x839" y="p0y839"/>
                  </a:lnTo>
                  <a:moveTo>
                    <a:pt x="p0x840" y="p0y840"/>
                  </a:moveTo>
                  <a:lnTo>
                    <a:pt x="p0x841" y="p0y841"/>
                  </a:lnTo>
                  <a:lnTo>
                    <a:pt x="p0x842" y="p0y842"/>
                  </a:lnTo>
                  <a:lnTo>
                    <a:pt x="p0x843" y="p0y843"/>
                  </a:lnTo>
                  <a:lnTo>
                    <a:pt x="p0x844" y="p0y844"/>
                  </a:lnTo>
                  <a:moveTo>
                    <a:pt x="p0x845" y="p0y845"/>
                  </a:moveTo>
                  <a:lnTo>
                    <a:pt x="p0x846" y="p0y846"/>
                  </a:lnTo>
                  <a:lnTo>
                    <a:pt x="p0x847" y="p0y847"/>
                  </a:lnTo>
                  <a:lnTo>
                    <a:pt x="p0x848" y="p0y848"/>
                  </a:lnTo>
                  <a:lnTo>
                    <a:pt x="p0x849" y="p0y849"/>
                  </a:lnTo>
                  <a:moveTo>
                    <a:pt x="p0x850" y="p0y850"/>
                  </a:moveTo>
                  <a:lnTo>
                    <a:pt x="p0x851" y="p0y851"/>
                  </a:lnTo>
                  <a:lnTo>
                    <a:pt x="p0x852" y="p0y852"/>
                  </a:lnTo>
                  <a:lnTo>
                    <a:pt x="p0x853" y="p0y853"/>
                  </a:lnTo>
                  <a:lnTo>
                    <a:pt x="p0x854" y="p0y854"/>
                  </a:lnTo>
                  <a:moveTo>
                    <a:pt x="p0x855" y="p0y855"/>
                  </a:moveTo>
                  <a:lnTo>
                    <a:pt x="p0x856" y="p0y856"/>
                  </a:lnTo>
                  <a:lnTo>
                    <a:pt x="p0x857" y="p0y857"/>
                  </a:lnTo>
                  <a:lnTo>
                    <a:pt x="p0x858" y="p0y858"/>
                  </a:lnTo>
                  <a:lnTo>
                    <a:pt x="p0x859" y="p0y859"/>
                  </a:lnTo>
                  <a:moveTo>
                    <a:pt x="p0x860" y="p0y860"/>
                  </a:moveTo>
                  <a:lnTo>
                    <a:pt x="p0x861" y="p0y861"/>
                  </a:lnTo>
                  <a:lnTo>
                    <a:pt x="p0x862" y="p0y862"/>
                  </a:lnTo>
                  <a:lnTo>
                    <a:pt x="p0x863" y="p0y863"/>
                  </a:lnTo>
                  <a:lnTo>
                    <a:pt x="p0x864" y="p0y864"/>
                  </a:lnTo>
                  <a:moveTo>
                    <a:pt x="p0x865" y="p0y865"/>
                  </a:moveTo>
                  <a:lnTo>
                    <a:pt x="p0x866" y="p0y866"/>
                  </a:lnTo>
                  <a:lnTo>
                    <a:pt x="p0x867" y="p0y867"/>
                  </a:lnTo>
                  <a:lnTo>
                    <a:pt x="p0x868" y="p0y868"/>
                  </a:lnTo>
                  <a:lnTo>
                    <a:pt x="p0x869" y="p0y869"/>
                  </a:lnTo>
                  <a:moveTo>
                    <a:pt x="p0x870" y="p0y870"/>
                  </a:moveTo>
                  <a:lnTo>
                    <a:pt x="p0x871" y="p0y871"/>
                  </a:lnTo>
                  <a:lnTo>
                    <a:pt x="p0x872" y="p0y872"/>
                  </a:lnTo>
                  <a:lnTo>
                    <a:pt x="p0x873" y="p0y873"/>
                  </a:lnTo>
                  <a:lnTo>
                    <a:pt x="p0x874" y="p0y874"/>
                  </a:lnTo>
                  <a:moveTo>
                    <a:pt x="p0x875" y="p0y875"/>
                  </a:moveTo>
                  <a:lnTo>
                    <a:pt x="p0x876" y="p0y876"/>
                  </a:lnTo>
                  <a:lnTo>
                    <a:pt x="p0x877" y="p0y877"/>
                  </a:lnTo>
                  <a:lnTo>
                    <a:pt x="p0x878" y="p0y878"/>
                  </a:lnTo>
                  <a:lnTo>
                    <a:pt x="p0x879" y="p0y879"/>
                  </a:lnTo>
                  <a:moveTo>
                    <a:pt x="p0x880" y="p0y880"/>
                  </a:moveTo>
                  <a:lnTo>
                    <a:pt x="p0x881" y="p0y881"/>
                  </a:lnTo>
                  <a:lnTo>
                    <a:pt x="p0x882" y="p0y882"/>
                  </a:lnTo>
                  <a:lnTo>
                    <a:pt x="p0x883" y="p0y883"/>
                  </a:lnTo>
                  <a:lnTo>
                    <a:pt x="p0x884" y="p0y884"/>
                  </a:lnTo>
                  <a:moveTo>
                    <a:pt x="p0x885" y="p0y885"/>
                  </a:moveTo>
                  <a:lnTo>
                    <a:pt x="p0x886" y="p0y886"/>
                  </a:lnTo>
                  <a:lnTo>
                    <a:pt x="p0x887" y="p0y887"/>
                  </a:lnTo>
                  <a:lnTo>
                    <a:pt x="p0x888" y="p0y888"/>
                  </a:lnTo>
                  <a:lnTo>
                    <a:pt x="p0x889" y="p0y889"/>
                  </a:lnTo>
                  <a:moveTo>
                    <a:pt x="p0x890" y="p0y890"/>
                  </a:moveTo>
                  <a:lnTo>
                    <a:pt x="p0x891" y="p0y891"/>
                  </a:lnTo>
                  <a:lnTo>
                    <a:pt x="p0x892" y="p0y892"/>
                  </a:lnTo>
                  <a:lnTo>
                    <a:pt x="p0x893" y="p0y893"/>
                  </a:lnTo>
                  <a:lnTo>
                    <a:pt x="p0x894" y="p0y894"/>
                  </a:lnTo>
                  <a:moveTo>
                    <a:pt x="p0x895" y="p0y895"/>
                  </a:moveTo>
                  <a:lnTo>
                    <a:pt x="p0x896" y="p0y896"/>
                  </a:lnTo>
                  <a:lnTo>
                    <a:pt x="p0x897" y="p0y897"/>
                  </a:lnTo>
                  <a:lnTo>
                    <a:pt x="p0x898" y="p0y898"/>
                  </a:lnTo>
                  <a:lnTo>
                    <a:pt x="p0x899" y="p0y899"/>
                  </a:lnTo>
                  <a:moveTo>
                    <a:pt x="p0x900" y="p0y900"/>
                  </a:moveTo>
                  <a:lnTo>
                    <a:pt x="p0x901" y="p0y901"/>
                  </a:lnTo>
                  <a:lnTo>
                    <a:pt x="p0x902" y="p0y902"/>
                  </a:lnTo>
                  <a:lnTo>
                    <a:pt x="p0x903" y="p0y903"/>
                  </a:lnTo>
                  <a:lnTo>
                    <a:pt x="p0x904" y="p0y904"/>
                  </a:lnTo>
                  <a:moveTo>
                    <a:pt x="p0x905" y="p0y905"/>
                  </a:moveTo>
                  <a:lnTo>
                    <a:pt x="p0x906" y="p0y906"/>
                  </a:lnTo>
                  <a:lnTo>
                    <a:pt x="p0x907" y="p0y907"/>
                  </a:lnTo>
                  <a:lnTo>
                    <a:pt x="p0x908" y="p0y908"/>
                  </a:lnTo>
                  <a:lnTo>
                    <a:pt x="p0x909" y="p0y909"/>
                  </a:lnTo>
                  <a:moveTo>
                    <a:pt x="p0x910" y="p0y910"/>
                  </a:moveTo>
                  <a:lnTo>
                    <a:pt x="p0x911" y="p0y911"/>
                  </a:lnTo>
                  <a:lnTo>
                    <a:pt x="p0x912" y="p0y912"/>
                  </a:lnTo>
                  <a:lnTo>
                    <a:pt x="p0x913" y="p0y913"/>
                  </a:lnTo>
                  <a:lnTo>
                    <a:pt x="p0x914" y="p0y914"/>
                  </a:lnTo>
                </a:path>
              </a:pathLst>
            </a:cu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99512" y="905592"/>
            <a:ext cx="5082549" cy="2485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【核心要点】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88121" y="1272465"/>
            <a:ext cx="5422028" cy="753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1.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模型选型：针对移动网络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RTT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的高频毛刺与非高斯抖动特性，建立一维卡尔曼滤波模型，实时采集底层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RTT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采样值以平滑处理网络抖动</a:t>
            </a: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88121" y="2592049"/>
            <a:ext cx="5422028" cy="7344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</a:rPr>
              <a:t>2</a:t>
            </a:r>
            <a:r>
              <a:rPr lang="en-US">
                <a:latin typeface="SimSun" panose="02010600030101010101" charset="-122"/>
                <a:ea typeface="SimSun" panose="02010600030101010101" charset="-122"/>
              </a:rPr>
              <a:t>.</a:t>
            </a:r>
            <a:r>
              <a:rPr>
                <a:latin typeface="SimSun" panose="02010600030101010101" charset="-122"/>
                <a:ea typeface="SimSun" panose="02010600030101010101" charset="-122"/>
              </a:rPr>
              <a:t>动态阈值：高抖动期自动拉长超时宽容度防误杀，平稳期收紧阈值保敏锐，有效降低无效唤醒功耗</a:t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88121" y="3531508"/>
            <a:ext cx="5082549" cy="2524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67000"/>
              </a:lnSpc>
              <a:spcAft>
                <a:spcPts val="195"/>
              </a:spcAft>
            </a:pPr>
            <a:r>
              <a:rPr sz="2000" b="1">
                <a:solidFill>
                  <a:srgbClr val="3E9CB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符号说明：</a:t>
            </a:r>
            <a:endParaRPr lang="zh-CN" altLang="en-US" sz="2000" b="1">
              <a:solidFill>
                <a:srgbClr val="3E9CB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FA5F91F0-1BA3-208A-F5D8-4D8B7A013C5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3789" r="1019" b="1895"/>
          <a:stretch>
            <a:fillRect/>
          </a:stretch>
        </p:blipFill>
        <p:spPr>
          <a:xfrm>
            <a:off x="6731490" y="119064"/>
            <a:ext cx="5317742" cy="661987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96ED1EA-E43C-1A09-92D3-2E80F484563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6655"/>
          <a:stretch>
            <a:fillRect/>
          </a:stretch>
        </p:blipFill>
        <p:spPr>
          <a:xfrm>
            <a:off x="499512" y="4091466"/>
            <a:ext cx="5895398" cy="2645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A4EA7-37B1-31AE-4042-912FD851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4B5D898-44D9-3F9F-74A3-1E18BB10F53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73002" y="211985"/>
            <a:ext cx="11048953" cy="364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7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3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机制实现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III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：连接迁移与容错</a:t>
            </a: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1A752F18-8493-5855-F06A-EC58525C8D6A}"/>
              </a:ext>
            </a:extLst>
          </p:cNvPr>
          <p:cNvGrpSpPr/>
          <p:nvPr/>
        </p:nvGrpSpPr>
        <p:grpSpPr>
          <a:xfrm>
            <a:off x="525430" y="1317624"/>
            <a:ext cx="3404787" cy="5021055"/>
            <a:chOff x="899" y="1985"/>
            <a:chExt cx="17400" cy="1344"/>
          </a:xfrm>
        </p:grpSpPr>
        <p:sp>
          <p:nvSpPr>
            <p:cNvPr id="113" name="任意多边形 6">
              <a:extLst>
                <a:ext uri="{FF2B5EF4-FFF2-40B4-BE49-F238E27FC236}">
                  <a16:creationId xmlns:a16="http://schemas.microsoft.com/office/drawing/2014/main" id="{50CA05DB-D2C0-EBA5-6706-72BBC4966B7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99" y="1985"/>
              <a:ext cx="17400" cy="1344"/>
            </a:xfrm>
            <a:custGeom>
              <a:avLst/>
              <a:gdLst>
                <a:gd name="sw" fmla="*/ 1 w 17400"/>
                <a:gd name="sh" fmla="*/ 1 h 1343"/>
                <a:gd name="mins" fmla="min sw sh"/>
                <a:gd name="dsw" fmla="+- 0 sw mins"/>
                <a:gd name="dsh" fmla="+- 0 sh mins"/>
                <a:gd name="p0x0" fmla="*/ 120 w 17400"/>
                <a:gd name="p0y0" fmla="*/ 0 h 1343"/>
                <a:gd name="p0x1" fmla="*/ 17280 w 17400"/>
                <a:gd name="p0y1" fmla="*/ 0 h 1343"/>
                <a:gd name="p0x2" fmla="*/ 17346 w 17400"/>
                <a:gd name="p0y2" fmla="*/ 0 h 1343"/>
                <a:gd name="p0x3" fmla="*/ 17400 w 17400"/>
                <a:gd name="p0y3" fmla="*/ 53 h 1343"/>
                <a:gd name="p0x4" fmla="*/ 17400 w 17400"/>
                <a:gd name="p0y4" fmla="*/ 120 h 1343"/>
                <a:gd name="p0x5" fmla="*/ 17400 w 17400"/>
                <a:gd name="p0y5" fmla="*/ 1223 h 1343"/>
                <a:gd name="p0x6" fmla="*/ 17400 w 17400"/>
                <a:gd name="p0y6" fmla="*/ 1290 h 1343"/>
                <a:gd name="p0x7" fmla="*/ 17346 w 17400"/>
                <a:gd name="p0y7" fmla="*/ 1343 h 1343"/>
                <a:gd name="p0x8" fmla="*/ 17280 w 17400"/>
                <a:gd name="p0y8" fmla="*/ 1343 h 1343"/>
                <a:gd name="p0x9" fmla="*/ 120 w 17400"/>
                <a:gd name="p0y9" fmla="*/ 1343 h 1343"/>
                <a:gd name="p0x10" fmla="*/ 53 w 17400"/>
                <a:gd name="p0y10" fmla="*/ 1343 h 1343"/>
                <a:gd name="p0x11" fmla="*/ 0 w 17400"/>
                <a:gd name="p0y11" fmla="*/ 1290 h 1343"/>
                <a:gd name="p0x12" fmla="*/ 0 w 17400"/>
                <a:gd name="p0y12" fmla="*/ 1223 h 1343"/>
                <a:gd name="p0x13" fmla="*/ 0 w 17400"/>
                <a:gd name="p0y13" fmla="*/ 120 h 1343"/>
                <a:gd name="p0x14" fmla="*/ 0 w 17400"/>
                <a:gd name="p0y14" fmla="*/ 53 h 1343"/>
                <a:gd name="p0x15" fmla="*/ 53 w 17400"/>
                <a:gd name="p0y15" fmla="*/ 0 h 1343"/>
                <a:gd name="p0x16" fmla="*/ 120 w 17400"/>
                <a:gd name="p0y16" fmla="*/ 0 h 1343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任意多边形 7">
              <a:extLst>
                <a:ext uri="{FF2B5EF4-FFF2-40B4-BE49-F238E27FC236}">
                  <a16:creationId xmlns:a16="http://schemas.microsoft.com/office/drawing/2014/main" id="{36B47047-E4FB-E435-9996-B5A17BBDCA7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9" y="1985"/>
              <a:ext cx="120" cy="1344"/>
            </a:xfrm>
            <a:custGeom>
              <a:avLst/>
              <a:gdLst>
                <a:gd name="sw" fmla="*/ 1 w 120"/>
                <a:gd name="sh" fmla="*/ 1 h 1343"/>
                <a:gd name="mins" fmla="min sw sh"/>
                <a:gd name="dsw" fmla="+- 0 sw mins"/>
                <a:gd name="dsh" fmla="+- 0 sh mins"/>
                <a:gd name="p0x0" fmla="*/ 0 w 120"/>
                <a:gd name="p0y0" fmla="*/ 1223 h 1343"/>
                <a:gd name="p0x1" fmla="*/ 0 w 120"/>
                <a:gd name="p0y1" fmla="*/ 120 h 1343"/>
                <a:gd name="p0x2" fmla="*/ 0 w 120"/>
                <a:gd name="p0y2" fmla="*/ 53 h 1343"/>
                <a:gd name="p0x3" fmla="*/ 53 w 120"/>
                <a:gd name="p0y3" fmla="*/ 0 h 1343"/>
                <a:gd name="p0x4" fmla="*/ 120 w 120"/>
                <a:gd name="p0y4" fmla="*/ 0 h 1343"/>
                <a:gd name="p0x5" fmla="*/ 86 w 120"/>
                <a:gd name="p0y5" fmla="*/ 0 h 1343"/>
                <a:gd name="p0x6" fmla="*/ 58 w 120"/>
                <a:gd name="p0y6" fmla="*/ 53 h 1343"/>
                <a:gd name="p0x7" fmla="*/ 58 w 120"/>
                <a:gd name="p0y7" fmla="*/ 120 h 1343"/>
                <a:gd name="p0x8" fmla="*/ 58 w 120"/>
                <a:gd name="p0y8" fmla="*/ 1223 h 1343"/>
                <a:gd name="p0x9" fmla="*/ 58 w 120"/>
                <a:gd name="p0y9" fmla="*/ 1290 h 1343"/>
                <a:gd name="p0x10" fmla="*/ 86 w 120"/>
                <a:gd name="p0y10" fmla="*/ 1343 h 1343"/>
                <a:gd name="p0x11" fmla="*/ 120 w 120"/>
                <a:gd name="p0y11" fmla="*/ 1343 h 1343"/>
                <a:gd name="p0x12" fmla="*/ 53 w 120"/>
                <a:gd name="p0y12" fmla="*/ 1343 h 1343"/>
                <a:gd name="p0x13" fmla="*/ 0 w 120"/>
                <a:gd name="p0y13" fmla="*/ 1290 h 1343"/>
                <a:gd name="p0x14" fmla="*/ 0 w 120"/>
                <a:gd name="p0y14" fmla="*/ 1223 h 1343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5" name="文本框 114">
            <a:extLst>
              <a:ext uri="{FF2B5EF4-FFF2-40B4-BE49-F238E27FC236}">
                <a16:creationId xmlns:a16="http://schemas.microsoft.com/office/drawing/2014/main" id="{F45B412B-990F-79C5-5BD2-59DB6C2916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9782" y="2292662"/>
            <a:ext cx="3135000" cy="5744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脱离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 IP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强依赖，利用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 QUIC Connection ID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作为连接唯一标识符，在内存中构建基于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 ETS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的无锁并发路由表。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IP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物理变更时，底层网关以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 O(1)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复杂度提取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 CID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>并重组路由路径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FA135BD-A291-0D49-AC71-D50B7B89ED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380"/>
          <a:stretch>
            <a:fillRect/>
          </a:stretch>
        </p:blipFill>
        <p:spPr>
          <a:xfrm>
            <a:off x="4252989" y="988230"/>
            <a:ext cx="7915532" cy="5763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256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7530" y="404045"/>
            <a:ext cx="104775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系统测试环境与方案</a:t>
            </a: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70864" y="1456689"/>
            <a:ext cx="45719" cy="362581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85695" y="1427751"/>
            <a:ext cx="1143105" cy="4499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核心要点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08965" y="1882220"/>
            <a:ext cx="10763934" cy="8647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1.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仿真环境：基于 </a:t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Linux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内核级的 </a:t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TC (Traffic Control)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框架联合 </a:t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NetEm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模块，在网关侧精准构建可控、可复现的弱网损伤环境</a:t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16583" y="2805432"/>
            <a:ext cx="10553768" cy="4809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2.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对比基准：选取传统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TCP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标杆实现（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Mosquitto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）作为实验对照组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3E731E1-C659-F139-5816-E4F2DF80270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16583" y="4242476"/>
            <a:ext cx="10763934" cy="255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基准满载：</a:t>
            </a:r>
            <a:r>
              <a:rPr lang="zh-CN" altLang="en-US"/>
              <a:t>无人工损伤的基准环境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，测定系统资源开销和鲁棒性。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渐进劣化：丢包率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0%→10%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阶梯递增，测定吞吐量（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TPS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）随信道质量下降的衰减趋势。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恶劣弱网：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5%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丢包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+ 200ms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延时抖动，模拟工业经典弱网环境，验证端到端长尾延迟表现。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动态拓扑：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RTT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在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50ms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至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500ms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剧烈抖动与物理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IP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变更，验证自适应心跳的稳定性及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CID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无缝迁移能力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03FEA08-A313-99DC-A120-22EC657D7A9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57530" y="3568362"/>
            <a:ext cx="45719" cy="362581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2E2A387-D3E4-CF5F-39E8-3DCE7500385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72361" y="3539424"/>
            <a:ext cx="1143105" cy="4499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测试环境</a:t>
            </a:r>
            <a:endParaRPr sz="2000" b="1">
              <a:solidFill>
                <a:srgbClr val="3E9CB8"/>
              </a:solidFill>
              <a:latin typeface="SimHei" panose="02010609060101010101" charset="-122"/>
              <a:ea typeface="SimHei" panose="02010609060101010101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42BD690-1376-6B19-3654-49CB13E780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4330" y="409359"/>
            <a:ext cx="116205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：端到端长尾延迟</a:t>
            </a:r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2BF14ED-9876-FD83-351E-1B7C134594AC}"/>
              </a:ext>
            </a:extLst>
          </p:cNvPr>
          <p:cNvSpPr/>
          <p:nvPr/>
        </p:nvSpPr>
        <p:spPr>
          <a:xfrm>
            <a:off x="1185856" y="2147476"/>
            <a:ext cx="152075" cy="12599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31k</a:t>
            </a:r>
            <a:endParaRPr lang="en-US" sz="65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37F2D49D-F68F-434E-9D98-4E51D5C74FBE}"/>
              </a:ext>
            </a:extLst>
          </p:cNvPr>
          <p:cNvSpPr/>
          <p:nvPr/>
        </p:nvSpPr>
        <p:spPr>
          <a:xfrm>
            <a:off x="1797873" y="4092873"/>
            <a:ext cx="112880" cy="12599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2k</a:t>
            </a:r>
            <a:endParaRPr lang="en-US" sz="65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7C93C7CA-385C-C790-465E-6494B5040AE7}"/>
              </a:ext>
            </a:extLst>
          </p:cNvPr>
          <p:cNvSpPr/>
          <p:nvPr/>
        </p:nvSpPr>
        <p:spPr>
          <a:xfrm>
            <a:off x="3415937" y="4089652"/>
            <a:ext cx="171182" cy="12599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2.1k</a:t>
            </a:r>
            <a:endParaRPr lang="en-US" sz="650" dirty="0"/>
          </a:p>
        </p:txBody>
      </p:sp>
      <p:pic>
        <p:nvPicPr>
          <p:cNvPr id="16" name="图片 7">
            <a:extLst>
              <a:ext uri="{FF2B5EF4-FFF2-40B4-BE49-F238E27FC236}">
                <a16:creationId xmlns:a16="http://schemas.microsoft.com/office/drawing/2014/main" id="{EBFA0671-DB52-5AEF-0C36-4A159D26E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11" y="1565681"/>
            <a:ext cx="6571348" cy="488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C5CCE543-821C-F3E0-A2A9-E328DC4C5C71}"/>
              </a:ext>
            </a:extLst>
          </p:cNvPr>
          <p:cNvSpPr/>
          <p:nvPr/>
        </p:nvSpPr>
        <p:spPr>
          <a:xfrm>
            <a:off x="7138946" y="2486271"/>
            <a:ext cx="4750279" cy="57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50" dirty="0"/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35EEAC6-306D-130A-273A-B1EC3C9B8B40}"/>
              </a:ext>
            </a:extLst>
          </p:cNvPr>
          <p:cNvSpPr/>
          <p:nvPr/>
        </p:nvSpPr>
        <p:spPr>
          <a:xfrm>
            <a:off x="6818840" y="2197076"/>
            <a:ext cx="2187544" cy="28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结论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C4E882DA-21EC-90B9-EF3D-C8DAC1B0E532}"/>
              </a:ext>
            </a:extLst>
          </p:cNvPr>
          <p:cNvSpPr/>
          <p:nvPr/>
        </p:nvSpPr>
        <p:spPr>
          <a:xfrm>
            <a:off x="6823086" y="2667533"/>
            <a:ext cx="5172971" cy="3145438"/>
          </a:xfrm>
          <a:prstGeom prst="roundRect">
            <a:avLst>
              <a:gd name="adj" fmla="val 660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3" name="Shape 13">
            <a:extLst>
              <a:ext uri="{FF2B5EF4-FFF2-40B4-BE49-F238E27FC236}">
                <a16:creationId xmlns:a16="http://schemas.microsoft.com/office/drawing/2014/main" id="{EF468931-C400-53BE-DAF7-7E62774C5A99}"/>
              </a:ext>
            </a:extLst>
          </p:cNvPr>
          <p:cNvSpPr/>
          <p:nvPr/>
        </p:nvSpPr>
        <p:spPr>
          <a:xfrm>
            <a:off x="6800027" y="2681380"/>
            <a:ext cx="74944" cy="3145437"/>
          </a:xfrm>
          <a:prstGeom prst="roundRect">
            <a:avLst>
              <a:gd name="adj" fmla="val 97674"/>
            </a:avLst>
          </a:prstGeom>
          <a:solidFill>
            <a:srgbClr val="1B1B27"/>
          </a:solidFill>
          <a:ln/>
        </p:spPr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54258DBF-0921-5C2F-72FF-2491BE6DF331}"/>
              </a:ext>
            </a:extLst>
          </p:cNvPr>
          <p:cNvSpPr/>
          <p:nvPr/>
        </p:nvSpPr>
        <p:spPr>
          <a:xfrm>
            <a:off x="6999187" y="3928296"/>
            <a:ext cx="4750279" cy="57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9A75A1-C694-3C6B-796A-8F7E1580D6A0}"/>
              </a:ext>
            </a:extLst>
          </p:cNvPr>
          <p:cNvSpPr txBox="1"/>
          <p:nvPr/>
        </p:nvSpPr>
        <p:spPr>
          <a:xfrm>
            <a:off x="574330" y="6461811"/>
            <a:ext cx="6025578" cy="39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6.5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弱网环境下端到端长尾延迟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CDF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累积分布图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 15">
            <a:extLst>
              <a:ext uri="{FF2B5EF4-FFF2-40B4-BE49-F238E27FC236}">
                <a16:creationId xmlns:a16="http://schemas.microsoft.com/office/drawing/2014/main" id="{3AB59A98-72D7-DF8D-D59D-31369485B48B}"/>
              </a:ext>
            </a:extLst>
          </p:cNvPr>
          <p:cNvSpPr/>
          <p:nvPr/>
        </p:nvSpPr>
        <p:spPr>
          <a:xfrm>
            <a:off x="7053879" y="2886935"/>
            <a:ext cx="4765552" cy="241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>
                <a:latin typeface="+mn-ea"/>
                <a:cs typeface="Roboto" panose="02000000000000000000" pitchFamily="2" charset="0"/>
              </a:rPr>
              <a:t>在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5%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丢包，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200ms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延迟下，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Mosquitto 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的 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P99 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延迟高达 </a:t>
            </a:r>
            <a:r>
              <a:rPr lang="en-US" altLang="zh-CN">
                <a:solidFill>
                  <a:srgbClr val="FF0000"/>
                </a:solidFill>
                <a:latin typeface="+mn-ea"/>
                <a:cs typeface="Roboto" panose="02000000000000000000" pitchFamily="2" charset="0"/>
              </a:rPr>
              <a:t>2095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 ms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，而本系统的 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P99 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延迟控制在 </a:t>
            </a:r>
            <a:r>
              <a:rPr lang="en-US" altLang="zh-CN">
                <a:solidFill>
                  <a:srgbClr val="FF0000"/>
                </a:solidFill>
                <a:latin typeface="+mn-ea"/>
                <a:cs typeface="Roboto" panose="02000000000000000000" pitchFamily="2" charset="0"/>
              </a:rPr>
              <a:t>386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 ms</a:t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+mn-ea"/>
                <a:cs typeface="Roboto" panose="02000000000000000000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+mn-ea"/>
                <a:cs typeface="Roboto" panose="02000000000000000000" pitchFamily="2" charset="0"/>
              </a:rPr>
              <a:t>在同等弱网环境下，本系统的 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P99 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延迟远低于 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TCP 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方案 ，成功从应用层消除了队头阻塞现象</a:t>
            </a:r>
            <a:endParaRPr lang="en-US" altLang="zh-CN">
              <a:latin typeface="+mn-ea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+mn-ea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n-ea"/>
              <a:cs typeface="Roboto" panose="02000000000000000000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2E5C6F-FE00-9FE0-0B4D-E08A9EE56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69852" y="178970"/>
            <a:ext cx="110490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：无效唤醒次数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D1B8310-CCC3-D029-9EB5-6BF7CE7D8919}"/>
              </a:ext>
            </a:extLst>
          </p:cNvPr>
          <p:cNvSpPr/>
          <p:nvPr/>
        </p:nvSpPr>
        <p:spPr>
          <a:xfrm>
            <a:off x="1153861" y="1442966"/>
            <a:ext cx="154042" cy="14850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31k</a:t>
            </a:r>
            <a:endParaRPr lang="en-US" sz="650" dirty="0"/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07CB04F-7123-20AD-60AC-9CE2A926E6F7}"/>
              </a:ext>
            </a:extLst>
          </p:cNvPr>
          <p:cNvSpPr/>
          <p:nvPr/>
        </p:nvSpPr>
        <p:spPr>
          <a:xfrm>
            <a:off x="1773794" y="3735864"/>
            <a:ext cx="114340" cy="14850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2k</a:t>
            </a:r>
            <a:endParaRPr lang="en-US" sz="6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5B77C10-AFA9-C9BB-2353-B1BE37F30E12}"/>
              </a:ext>
            </a:extLst>
          </p:cNvPr>
          <p:cNvSpPr/>
          <p:nvPr/>
        </p:nvSpPr>
        <p:spPr>
          <a:xfrm>
            <a:off x="3412788" y="3732067"/>
            <a:ext cx="173396" cy="14850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2.1k</a:t>
            </a:r>
            <a:endParaRPr lang="en-US" sz="650" dirty="0"/>
          </a:p>
        </p:txBody>
      </p:sp>
      <p:pic>
        <p:nvPicPr>
          <p:cNvPr id="12" name="图片 9">
            <a:extLst>
              <a:ext uri="{FF2B5EF4-FFF2-40B4-BE49-F238E27FC236}">
                <a16:creationId xmlns:a16="http://schemas.microsoft.com/office/drawing/2014/main" id="{BFF16A42-90AC-583A-8C0F-B7AB47CE540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57247"/>
            <a:ext cx="6656347" cy="575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 15">
            <a:extLst>
              <a:ext uri="{FF2B5EF4-FFF2-40B4-BE49-F238E27FC236}">
                <a16:creationId xmlns:a16="http://schemas.microsoft.com/office/drawing/2014/main" id="{72E8FAA8-14D5-D2F7-A12E-65AEE020D23F}"/>
              </a:ext>
            </a:extLst>
          </p:cNvPr>
          <p:cNvSpPr/>
          <p:nvPr/>
        </p:nvSpPr>
        <p:spPr>
          <a:xfrm>
            <a:off x="7586724" y="708475"/>
            <a:ext cx="4811723" cy="67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15C585E-EDC1-6027-2465-CB3E8F9DF28B}"/>
              </a:ext>
            </a:extLst>
          </p:cNvPr>
          <p:cNvSpPr txBox="1"/>
          <p:nvPr/>
        </p:nvSpPr>
        <p:spPr>
          <a:xfrm>
            <a:off x="261420" y="6383830"/>
            <a:ext cx="6649527" cy="47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6.7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高抖动网络下自适应心跳算法与固定心跳触发次数对比图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15">
            <a:extLst>
              <a:ext uri="{FF2B5EF4-FFF2-40B4-BE49-F238E27FC236}">
                <a16:creationId xmlns:a16="http://schemas.microsoft.com/office/drawing/2014/main" id="{8F8C7914-8C74-578C-FBB8-6EC1C2EC1A33}"/>
              </a:ext>
            </a:extLst>
          </p:cNvPr>
          <p:cNvSpPr/>
          <p:nvPr/>
        </p:nvSpPr>
        <p:spPr>
          <a:xfrm>
            <a:off x="7118626" y="2077520"/>
            <a:ext cx="4750279" cy="57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50" dirty="0"/>
          </a:p>
        </p:txBody>
      </p:sp>
      <p:sp>
        <p:nvSpPr>
          <p:cNvPr id="25" name="Text 11">
            <a:extLst>
              <a:ext uri="{FF2B5EF4-FFF2-40B4-BE49-F238E27FC236}">
                <a16:creationId xmlns:a16="http://schemas.microsoft.com/office/drawing/2014/main" id="{60F966BF-CFB2-6E51-4A20-38CF7E237FF3}"/>
              </a:ext>
            </a:extLst>
          </p:cNvPr>
          <p:cNvSpPr/>
          <p:nvPr/>
        </p:nvSpPr>
        <p:spPr>
          <a:xfrm>
            <a:off x="6798520" y="1788325"/>
            <a:ext cx="2187544" cy="28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结论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F20DEB2A-8085-4A6E-6E00-9F6600F5FBCB}"/>
              </a:ext>
            </a:extLst>
          </p:cNvPr>
          <p:cNvSpPr/>
          <p:nvPr/>
        </p:nvSpPr>
        <p:spPr>
          <a:xfrm>
            <a:off x="6802766" y="2258782"/>
            <a:ext cx="5127977" cy="3941706"/>
          </a:xfrm>
          <a:prstGeom prst="roundRect">
            <a:avLst>
              <a:gd name="adj" fmla="val 660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7" name="Shape 13">
            <a:extLst>
              <a:ext uri="{FF2B5EF4-FFF2-40B4-BE49-F238E27FC236}">
                <a16:creationId xmlns:a16="http://schemas.microsoft.com/office/drawing/2014/main" id="{C0E35919-C511-106B-7DC6-5581B06C0CD1}"/>
              </a:ext>
            </a:extLst>
          </p:cNvPr>
          <p:cNvSpPr/>
          <p:nvPr/>
        </p:nvSpPr>
        <p:spPr>
          <a:xfrm>
            <a:off x="6779707" y="2272629"/>
            <a:ext cx="74292" cy="3941705"/>
          </a:xfrm>
          <a:prstGeom prst="roundRect">
            <a:avLst>
              <a:gd name="adj" fmla="val 97674"/>
            </a:avLst>
          </a:prstGeom>
          <a:solidFill>
            <a:srgbClr val="1B1B27"/>
          </a:solidFill>
          <a:ln/>
        </p:spPr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A045831C-62FD-2A9B-EAB2-23652992C558}"/>
              </a:ext>
            </a:extLst>
          </p:cNvPr>
          <p:cNvSpPr/>
          <p:nvPr/>
        </p:nvSpPr>
        <p:spPr>
          <a:xfrm>
            <a:off x="7069154" y="4090197"/>
            <a:ext cx="4750279" cy="57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44CF018D-A74A-59B1-5473-5095A6662E2A}"/>
              </a:ext>
            </a:extLst>
          </p:cNvPr>
          <p:cNvSpPr/>
          <p:nvPr/>
        </p:nvSpPr>
        <p:spPr>
          <a:xfrm>
            <a:off x="7044417" y="2493009"/>
            <a:ext cx="4744690" cy="337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在 </a:t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>RTT 50-500ms </a:t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剧烈波动的环境下，</a:t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> 1,000 </a:t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个并发设备持续保活 </a:t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>1 </a:t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小时，</a:t>
            </a:r>
            <a:r>
              <a:rPr lang="tr-TR" altLang="zh-CN">
                <a:latin typeface="Roboto" panose="02000000000000000000" pitchFamily="2" charset="0"/>
                <a:cs typeface="Roboto" panose="02000000000000000000" pitchFamily="2" charset="0"/>
              </a:rPr>
              <a:t>Mosquitto</a:t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各统计区间约为 </a:t>
            </a:r>
            <a:r>
              <a:rPr lang="en-US" altLang="zh-CN">
                <a:solidFill>
                  <a:srgbClr val="FF0000"/>
                </a:solidFill>
                <a:latin typeface="Roboto" panose="02000000000000000000" pitchFamily="2" charset="0"/>
                <a:cs typeface="Roboto" panose="02000000000000000000" pitchFamily="2" charset="0"/>
              </a:rPr>
              <a:t>2400 </a:t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次触发，而本系统仅产生了</a:t>
            </a:r>
            <a:r>
              <a:rPr lang="zh-CN" altLang="en-US">
                <a:solidFill>
                  <a:srgbClr val="FF0000"/>
                </a:solidFill>
                <a:latin typeface="Roboto" panose="02000000000000000000" pitchFamily="2" charset="0"/>
                <a:cs typeface="Roboto" panose="02000000000000000000" pitchFamily="2" charset="0"/>
              </a:rPr>
              <a:t>少量次数</a:t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的真实断线重连</a:t>
            </a:r>
            <a:endParaRPr lang="en-US" altLang="zh-CN">
              <a:latin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本系统相较</a:t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>TCP</a:t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>方案大大降低了无效的网络唤醒次数，验证了其在降低移动终端驻留功耗上的巨大价值</a:t>
            </a:r>
          </a:p>
          <a:p>
            <a:pPr>
              <a:lnSpc>
                <a:spcPct val="150000"/>
              </a:lnSpc>
            </a:pPr>
            <a:endParaRPr lang="en-US" altLang="zh-CN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pPr>
              <a:lnSpc>
                <a:spcPct val="150000"/>
              </a:lnSpc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9F0D66A7-D93F-9B73-640C-9FC0FBCCE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61902" y="394953"/>
            <a:ext cx="110490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III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：连接迁移</a:t>
            </a:r>
          </a:p>
        </p:txBody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0B1F2A49-0553-314B-E34D-D13A872D8FA0}"/>
              </a:ext>
            </a:extLst>
          </p:cNvPr>
          <p:cNvSpPr/>
          <p:nvPr/>
        </p:nvSpPr>
        <p:spPr>
          <a:xfrm>
            <a:off x="1076720" y="1448760"/>
            <a:ext cx="155118" cy="14976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31k</a:t>
            </a:r>
            <a:endParaRPr lang="en-US" sz="650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04250FC-24B7-A191-28B6-063E097CEFB9}"/>
              </a:ext>
            </a:extLst>
          </p:cNvPr>
          <p:cNvSpPr/>
          <p:nvPr/>
        </p:nvSpPr>
        <p:spPr>
          <a:xfrm>
            <a:off x="1700985" y="3761033"/>
            <a:ext cx="115139" cy="14976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2k</a:t>
            </a:r>
            <a:endParaRPr lang="en-US" sz="650" dirty="0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D5160B55-E16D-2DF5-83B8-CF46A30C81B9}"/>
              </a:ext>
            </a:extLst>
          </p:cNvPr>
          <p:cNvSpPr/>
          <p:nvPr/>
        </p:nvSpPr>
        <p:spPr>
          <a:xfrm>
            <a:off x="3351433" y="3757203"/>
            <a:ext cx="174608" cy="14976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2.1k</a:t>
            </a:r>
            <a:endParaRPr lang="en-US" sz="650" dirty="0"/>
          </a:p>
        </p:txBody>
      </p:sp>
      <p:pic>
        <p:nvPicPr>
          <p:cNvPr id="14" name="图片 3">
            <a:extLst>
              <a:ext uri="{FF2B5EF4-FFF2-40B4-BE49-F238E27FC236}">
                <a16:creationId xmlns:a16="http://schemas.microsoft.com/office/drawing/2014/main" id="{B26105DC-2DBD-BD2C-AB25-11D38BAEE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920226"/>
            <a:ext cx="6702866" cy="3860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ext 15">
            <a:extLst>
              <a:ext uri="{FF2B5EF4-FFF2-40B4-BE49-F238E27FC236}">
                <a16:creationId xmlns:a16="http://schemas.microsoft.com/office/drawing/2014/main" id="{10650A0D-5F53-2C93-5C85-DE515F8C33AF}"/>
              </a:ext>
            </a:extLst>
          </p:cNvPr>
          <p:cNvSpPr/>
          <p:nvPr/>
        </p:nvSpPr>
        <p:spPr>
          <a:xfrm>
            <a:off x="7090062" y="1370308"/>
            <a:ext cx="4845350" cy="68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50" dirty="0"/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33C292F6-3E05-6C2F-4F1B-D3C5FE2F848B}"/>
              </a:ext>
            </a:extLst>
          </p:cNvPr>
          <p:cNvSpPr/>
          <p:nvPr/>
        </p:nvSpPr>
        <p:spPr>
          <a:xfrm>
            <a:off x="6722056" y="1708377"/>
            <a:ext cx="2231325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结论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Shape 12">
            <a:extLst>
              <a:ext uri="{FF2B5EF4-FFF2-40B4-BE49-F238E27FC236}">
                <a16:creationId xmlns:a16="http://schemas.microsoft.com/office/drawing/2014/main" id="{86750FE4-5808-7C0F-F47C-4D1E1F34FED9}"/>
              </a:ext>
            </a:extLst>
          </p:cNvPr>
          <p:cNvSpPr/>
          <p:nvPr/>
        </p:nvSpPr>
        <p:spPr>
          <a:xfrm>
            <a:off x="6702866" y="2277442"/>
            <a:ext cx="5119805" cy="3579071"/>
          </a:xfrm>
          <a:prstGeom prst="roundRect">
            <a:avLst>
              <a:gd name="adj" fmla="val 660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C6C24B6B-2592-DD69-CD78-FCE7A0C4FB25}"/>
              </a:ext>
            </a:extLst>
          </p:cNvPr>
          <p:cNvSpPr/>
          <p:nvPr/>
        </p:nvSpPr>
        <p:spPr>
          <a:xfrm>
            <a:off x="6702866" y="2284016"/>
            <a:ext cx="74174" cy="3579071"/>
          </a:xfrm>
          <a:prstGeom prst="roundRect">
            <a:avLst>
              <a:gd name="adj" fmla="val 97674"/>
            </a:avLst>
          </a:prstGeom>
          <a:solidFill>
            <a:srgbClr val="1B1B27"/>
          </a:solidFill>
          <a:ln/>
        </p:spPr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5E0798B3-BA3F-9E30-4A6C-D8A108B4B061}"/>
              </a:ext>
            </a:extLst>
          </p:cNvPr>
          <p:cNvSpPr/>
          <p:nvPr/>
        </p:nvSpPr>
        <p:spPr>
          <a:xfrm>
            <a:off x="6977321" y="4177926"/>
            <a:ext cx="4845350" cy="117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EB14D52-411D-931B-17C8-8B30582B3531}"/>
              </a:ext>
            </a:extLst>
          </p:cNvPr>
          <p:cNvSpPr txBox="1"/>
          <p:nvPr/>
        </p:nvSpPr>
        <p:spPr>
          <a:xfrm>
            <a:off x="278347" y="6238969"/>
            <a:ext cx="6146172" cy="47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6.6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跨基站网络切换业务恢复耗时对比拆解图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15">
            <a:extLst>
              <a:ext uri="{FF2B5EF4-FFF2-40B4-BE49-F238E27FC236}">
                <a16:creationId xmlns:a16="http://schemas.microsoft.com/office/drawing/2014/main" id="{61FE2F23-D7B4-2EBC-D96A-00CEDC86B6B2}"/>
              </a:ext>
            </a:extLst>
          </p:cNvPr>
          <p:cNvSpPr/>
          <p:nvPr/>
        </p:nvSpPr>
        <p:spPr>
          <a:xfrm>
            <a:off x="6977321" y="2632530"/>
            <a:ext cx="4845350" cy="2086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+mn-ea"/>
                <a:cs typeface="Roboto" panose="02000000000000000000" pitchFamily="2" charset="0"/>
              </a:rPr>
              <a:t>在基准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环境下，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移动端设备从 源 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IP: A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 物理切换至 源 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IP: B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时，</a:t>
            </a:r>
            <a:r>
              <a:rPr lang="en-US" altLang="zh-CN">
                <a:latin typeface="+mn-ea"/>
              </a:rPr>
              <a:t>Mosquitto </a:t>
            </a:r>
            <a:r>
              <a:rPr lang="zh-CN" altLang="en-US">
                <a:latin typeface="+mn-ea"/>
              </a:rPr>
              <a:t>断线重连耗时 </a:t>
            </a:r>
            <a:r>
              <a:rPr lang="en-US" altLang="zh-CN">
                <a:solidFill>
                  <a:srgbClr val="FF0000"/>
                </a:solidFill>
                <a:latin typeface="+mn-ea"/>
              </a:rPr>
              <a:t>3150 </a:t>
            </a:r>
            <a:r>
              <a:rPr lang="en-US" altLang="zh-CN">
                <a:latin typeface="+mn-ea"/>
              </a:rPr>
              <a:t>ms</a:t>
            </a:r>
            <a:r>
              <a:rPr lang="zh-CN" altLang="en-US">
                <a:latin typeface="+mn-ea"/>
              </a:rPr>
              <a:t>，而本系统仅需 </a:t>
            </a:r>
            <a:r>
              <a:rPr lang="en-US" altLang="zh-CN">
                <a:solidFill>
                  <a:srgbClr val="FF0000"/>
                </a:solidFill>
                <a:latin typeface="+mn-ea"/>
              </a:rPr>
              <a:t>48 </a:t>
            </a:r>
            <a:r>
              <a:rPr lang="en-US" altLang="zh-CN">
                <a:latin typeface="+mn-ea"/>
              </a:rPr>
              <a:t>ms</a:t>
            </a:r>
            <a:r>
              <a:rPr lang="zh-CN" altLang="en-US">
                <a:latin typeface="+mn-ea"/>
              </a:rPr>
              <a:t>即完成了重连过程</a:t>
            </a:r>
            <a:endParaRPr lang="en-US" altLang="zh-CN">
              <a:latin typeface="+mn-ea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>
              <a:latin typeface="+mn-ea"/>
              <a:cs typeface="Roboto" panose="02000000000000000000" pitchFamily="2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+mn-ea"/>
                <a:cs typeface="Roboto" panose="02000000000000000000" pitchFamily="2" charset="0"/>
              </a:rPr>
              <a:t>本系统相较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TCP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方案对底层网络切换无感知，实现了中断时间减少 </a:t>
            </a:r>
            <a:r>
              <a:rPr lang="en-US" altLang="zh-CN">
                <a:solidFill>
                  <a:srgbClr val="FF0000"/>
                </a:solidFill>
                <a:latin typeface="+mn-ea"/>
                <a:cs typeface="Roboto" panose="02000000000000000000" pitchFamily="2" charset="0"/>
              </a:rPr>
              <a:t>98.4%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> </a:t>
            </a:r>
            <a:r>
              <a:rPr lang="zh-CN" altLang="en-US">
                <a:latin typeface="+mn-ea"/>
                <a:cs typeface="Roboto" panose="02000000000000000000" pitchFamily="2" charset="0"/>
              </a:rPr>
              <a:t>的高效网络无感迁移 </a:t>
            </a:r>
            <a:endParaRPr lang="en-US" altLang="zh-CN">
              <a:latin typeface="+mn-ea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>
              <a:latin typeface="+mn-ea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+mn-ea"/>
              </a:rPr>
              <a:t> </a:t>
            </a:r>
            <a:endParaRPr lang="en-US" altLang="zh-CN">
              <a:latin typeface="+mn-ea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n-ea"/>
              <a:cs typeface="Roboto" panose="02000000000000000000" pitchFamily="2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23D40687-3BA4-145A-17B9-EB8B10F98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38F30-C9A7-ED6C-EA57-C0C3C5B2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EFF5AAE-3688-5E2D-046E-BB66B4FF7CA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4902" y="240567"/>
            <a:ext cx="110490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实验验证：资源开销与系统鲁棒性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8FA6F44-A7C6-D94B-F055-F245462C974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4930" y="5475444"/>
            <a:ext cx="11258598" cy="120690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  <a:spcAft>
                <a:spcPts val="900"/>
              </a:spcAft>
            </a:pPr>
            <a:r>
              <a:rPr lang="en-US" b="1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1. </a:t>
            </a:r>
            <a:r>
              <a:rPr lang="zh-CN" b="1">
                <a:latin typeface="黑体" panose="02010609060101010101" pitchFamily="49" charset="-122"/>
                <a:ea typeface="黑体" panose="02010609060101010101" pitchFamily="49" charset="-122"/>
                <a:cs typeface="SimSun" panose="02010600030101010101" charset="-122"/>
              </a:rPr>
              <a:t>资源代价：</a:t>
            </a:r>
            <a:r>
              <a:rPr 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14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核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CPU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占用率略高</a:t>
            </a:r>
            <a:r>
              <a:rPr b="1">
                <a:solidFill>
                  <a:srgbClr val="FF0000"/>
                </a:solidFill>
                <a:latin typeface="SimSun" panose="02010600030101010101" charset="-122"/>
                <a:ea typeface="SimSun" panose="02010600030101010101" charset="-122"/>
              </a:rPr>
              <a:t>15%</a:t>
            </a:r>
            <a:r>
              <a:rPr>
                <a:latin typeface="SimSun" panose="02010600030101010101" charset="-122"/>
                <a:ea typeface="SimSun" panose="02010600030101010101" charset="-122"/>
              </a:rPr>
              <a:t>（用户态解密开销），但</a:t>
            </a:r>
            <a:r>
              <a:rPr lang="en-US">
                <a:latin typeface="SimSun" panose="02010600030101010101" charset="-122"/>
                <a:ea typeface="SimSun" panose="02010600030101010101" charset="-122"/>
              </a:rPr>
              <a:t>64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</a:rPr>
              <a:t>GB</a:t>
            </a:r>
            <a:r>
              <a:rPr>
                <a:latin typeface="SimSun" panose="02010600030101010101" charset="-122"/>
                <a:ea typeface="SimSun" panose="02010600030101010101" charset="-122"/>
              </a:rPr>
              <a:t>内存占用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</a:rPr>
              <a:t>率</a:t>
            </a:r>
            <a:r>
              <a:rPr>
                <a:latin typeface="SimSun" panose="02010600030101010101" charset="-122"/>
                <a:ea typeface="SimSun" panose="02010600030101010101" charset="-122"/>
              </a:rPr>
              <a:t>降低</a:t>
            </a:r>
            <a:r>
              <a:rPr b="1">
                <a:solidFill>
                  <a:srgbClr val="FF0000"/>
                </a:solidFill>
                <a:latin typeface="SimSun" panose="02010600030101010101" charset="-122"/>
                <a:ea typeface="SimSun" panose="02010600030101010101" charset="-122"/>
              </a:rPr>
              <a:t>30%</a:t>
            </a:r>
            <a:r>
              <a:rPr 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（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Erlang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独立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GC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优势）。</a:t>
            </a:r>
          </a:p>
          <a:p>
            <a:pPr algn="l">
              <a:lnSpc>
                <a:spcPct val="133000"/>
              </a:lnSpc>
            </a:pPr>
            <a:r>
              <a:rPr lang="en-US" b="1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2. </a:t>
            </a:r>
            <a:r>
              <a:rPr lang="zh-CN" b="1">
                <a:latin typeface="黑体" panose="02010609060101010101" pitchFamily="49" charset="-122"/>
                <a:ea typeface="黑体" panose="02010609060101010101" pitchFamily="49" charset="-122"/>
                <a:cs typeface="SimSun" panose="02010600030101010101" charset="-122"/>
              </a:rPr>
              <a:t>高可用性</a:t>
            </a:r>
            <a:r>
              <a:rPr lang="zh-CN" b="1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：</a:t>
            </a:r>
            <a:r>
              <a:rPr 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恶意报文攻击下，系统全局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TPS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曲线始终维持在</a:t>
            </a:r>
            <a:r>
              <a:rPr b="1">
                <a:solidFill>
                  <a:srgbClr val="FF0000"/>
                </a:solidFill>
                <a:latin typeface="SimSun" panose="02010600030101010101" charset="-122"/>
                <a:ea typeface="SimSun" panose="02010600030101010101" charset="-122"/>
              </a:rPr>
              <a:t>48,500</a:t>
            </a:r>
            <a:r>
              <a:rPr>
                <a:latin typeface="SimSun" panose="02010600030101010101" charset="-122"/>
                <a:ea typeface="SimSun" panose="02010600030101010101" charset="-122"/>
              </a:rPr>
              <a:t>高位平稳，未出现凹陷。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F4D70DE4-68FD-893B-8F72-927226431518}"/>
              </a:ext>
            </a:extLst>
          </p:cNvPr>
          <p:cNvGrpSpPr/>
          <p:nvPr/>
        </p:nvGrpSpPr>
        <p:grpSpPr>
          <a:xfrm>
            <a:off x="0" y="900865"/>
            <a:ext cx="6316360" cy="4090945"/>
            <a:chOff x="93314" y="1872022"/>
            <a:chExt cx="7984800" cy="6355161"/>
          </a:xfrm>
        </p:grpSpPr>
        <p:pic>
          <p:nvPicPr>
            <p:cNvPr id="8194" name="图片 5">
              <a:extLst>
                <a:ext uri="{FF2B5EF4-FFF2-40B4-BE49-F238E27FC236}">
                  <a16:creationId xmlns:a16="http://schemas.microsoft.com/office/drawing/2014/main" id="{76A92754-1FDE-6D35-9EE2-37469347A27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14" y="1872022"/>
              <a:ext cx="7984800" cy="561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21C1308-B058-72CB-0A0C-A2614C59A06A}"/>
                </a:ext>
              </a:extLst>
            </p:cNvPr>
            <p:cNvSpPr txBox="1"/>
            <p:nvPr/>
          </p:nvSpPr>
          <p:spPr>
            <a:xfrm>
              <a:off x="744261" y="7771929"/>
              <a:ext cx="7321638" cy="455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zh-CN" altLang="zh-CN" sz="1800" b="1" kern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ourierNewPSMT"/>
                </a:rPr>
                <a:t>图</a:t>
              </a:r>
              <a:r>
                <a:rPr lang="en-US" altLang="zh-CN" sz="1800" b="1" kern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6.4</a:t>
              </a:r>
              <a:r>
                <a:rPr lang="en-US" altLang="zh-CN" sz="1800" b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 10,000 </a:t>
              </a:r>
              <a:r>
                <a:rPr lang="zh-CN" altLang="zh-CN" sz="1800" b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并发下的系统资源开销对比图</a:t>
              </a:r>
              <a:endPara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5122" name="图片 11">
            <a:extLst>
              <a:ext uri="{FF2B5EF4-FFF2-40B4-BE49-F238E27FC236}">
                <a16:creationId xmlns:a16="http://schemas.microsoft.com/office/drawing/2014/main" id="{45A862E2-55E6-1BEC-DCF4-F345CA09F9D0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697" y="866217"/>
            <a:ext cx="5885303" cy="399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42B9541C-DFDD-15F0-DD53-8BA24BC1112B}"/>
              </a:ext>
            </a:extLst>
          </p:cNvPr>
          <p:cNvSpPr txBox="1"/>
          <p:nvPr/>
        </p:nvSpPr>
        <p:spPr>
          <a:xfrm>
            <a:off x="6362700" y="4698754"/>
            <a:ext cx="6096000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6.8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恶意报文攻击下的全局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TPS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波动时序对比图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D8F2575-408A-E629-500D-2CA8BC5BB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584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8313E5-F255-8736-E12A-E83F735831F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1452" y="362312"/>
            <a:ext cx="110490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实验验证：吞吐量</a:t>
            </a:r>
          </a:p>
        </p:txBody>
      </p:sp>
      <p:sp>
        <p:nvSpPr>
          <p:cNvPr id="26" name="Text 5">
            <a:extLst>
              <a:ext uri="{FF2B5EF4-FFF2-40B4-BE49-F238E27FC236}">
                <a16:creationId xmlns:a16="http://schemas.microsoft.com/office/drawing/2014/main" id="{3BD4043F-68B4-DF2A-DBF5-3C330B640650}"/>
              </a:ext>
            </a:extLst>
          </p:cNvPr>
          <p:cNvSpPr/>
          <p:nvPr/>
        </p:nvSpPr>
        <p:spPr>
          <a:xfrm>
            <a:off x="1145128" y="1693789"/>
            <a:ext cx="154164" cy="13282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31k</a:t>
            </a:r>
            <a:endParaRPr lang="en-US" sz="650" dirty="0"/>
          </a:p>
        </p:txBody>
      </p:sp>
      <p:sp>
        <p:nvSpPr>
          <p:cNvPr id="27" name="Text 6">
            <a:extLst>
              <a:ext uri="{FF2B5EF4-FFF2-40B4-BE49-F238E27FC236}">
                <a16:creationId xmlns:a16="http://schemas.microsoft.com/office/drawing/2014/main" id="{95291ADE-9363-7723-D20D-6527C57D8C7F}"/>
              </a:ext>
            </a:extLst>
          </p:cNvPr>
          <p:cNvSpPr/>
          <p:nvPr/>
        </p:nvSpPr>
        <p:spPr>
          <a:xfrm>
            <a:off x="1765551" y="3744508"/>
            <a:ext cx="114431" cy="13282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2k</a:t>
            </a:r>
            <a:endParaRPr lang="en-US" sz="650" dirty="0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2DC74BF7-8F74-27A3-6FB0-95B825FF246F}"/>
              </a:ext>
            </a:extLst>
          </p:cNvPr>
          <p:cNvSpPr/>
          <p:nvPr/>
        </p:nvSpPr>
        <p:spPr>
          <a:xfrm>
            <a:off x="3405842" y="3741111"/>
            <a:ext cx="173533" cy="13282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2.1k</a:t>
            </a:r>
            <a:endParaRPr lang="en-US" sz="650" dirty="0"/>
          </a:p>
        </p:txBody>
      </p:sp>
      <p:pic>
        <p:nvPicPr>
          <p:cNvPr id="33" name="Picture 2">
            <a:extLst>
              <a:ext uri="{FF2B5EF4-FFF2-40B4-BE49-F238E27FC236}">
                <a16:creationId xmlns:a16="http://schemas.microsoft.com/office/drawing/2014/main" id="{4ED858FD-B4FC-268A-D524-A08F41B5D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8215" y="1080496"/>
            <a:ext cx="6660142" cy="51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" name="文本框 33">
            <a:extLst>
              <a:ext uri="{FF2B5EF4-FFF2-40B4-BE49-F238E27FC236}">
                <a16:creationId xmlns:a16="http://schemas.microsoft.com/office/drawing/2014/main" id="{7D07AB22-6863-68DD-7F08-B5624483FCE4}"/>
              </a:ext>
            </a:extLst>
          </p:cNvPr>
          <p:cNvSpPr txBox="1"/>
          <p:nvPr/>
        </p:nvSpPr>
        <p:spPr>
          <a:xfrm>
            <a:off x="466718" y="6325724"/>
            <a:ext cx="6135209" cy="41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6.3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吞吐量在不同丢包率下的衰减趋势对比图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Text 11">
            <a:extLst>
              <a:ext uri="{FF2B5EF4-FFF2-40B4-BE49-F238E27FC236}">
                <a16:creationId xmlns:a16="http://schemas.microsoft.com/office/drawing/2014/main" id="{7B56D9DA-1583-7804-BD39-72D213150D57}"/>
              </a:ext>
            </a:extLst>
          </p:cNvPr>
          <p:cNvSpPr/>
          <p:nvPr/>
        </p:nvSpPr>
        <p:spPr>
          <a:xfrm>
            <a:off x="6689607" y="1826609"/>
            <a:ext cx="2231325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结论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hape 12">
            <a:extLst>
              <a:ext uri="{FF2B5EF4-FFF2-40B4-BE49-F238E27FC236}">
                <a16:creationId xmlns:a16="http://schemas.microsoft.com/office/drawing/2014/main" id="{06F22CA3-EA18-6AF0-2AC7-5A2136FB03F3}"/>
              </a:ext>
            </a:extLst>
          </p:cNvPr>
          <p:cNvSpPr/>
          <p:nvPr/>
        </p:nvSpPr>
        <p:spPr>
          <a:xfrm>
            <a:off x="6689607" y="2402249"/>
            <a:ext cx="5212107" cy="3686494"/>
          </a:xfrm>
          <a:prstGeom prst="roundRect">
            <a:avLst>
              <a:gd name="adj" fmla="val 660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6" name="Shape 13">
            <a:extLst>
              <a:ext uri="{FF2B5EF4-FFF2-40B4-BE49-F238E27FC236}">
                <a16:creationId xmlns:a16="http://schemas.microsoft.com/office/drawing/2014/main" id="{E2F3C01F-5DC8-A2DA-4513-8859F8C9F54B}"/>
              </a:ext>
            </a:extLst>
          </p:cNvPr>
          <p:cNvSpPr/>
          <p:nvPr/>
        </p:nvSpPr>
        <p:spPr>
          <a:xfrm>
            <a:off x="6670417" y="2402249"/>
            <a:ext cx="75511" cy="3686494"/>
          </a:xfrm>
          <a:prstGeom prst="roundRect">
            <a:avLst>
              <a:gd name="adj" fmla="val 97674"/>
            </a:avLst>
          </a:prstGeom>
          <a:solidFill>
            <a:srgbClr val="1B1B27"/>
          </a:solidFill>
          <a:ln/>
        </p:spPr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0D37C60C-AE3B-EAA5-A987-1307525BD0A6}"/>
              </a:ext>
            </a:extLst>
          </p:cNvPr>
          <p:cNvSpPr/>
          <p:nvPr/>
        </p:nvSpPr>
        <p:spPr>
          <a:xfrm>
            <a:off x="6944872" y="4296158"/>
            <a:ext cx="4845350" cy="117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15">
            <a:extLst>
              <a:ext uri="{FF2B5EF4-FFF2-40B4-BE49-F238E27FC236}">
                <a16:creationId xmlns:a16="http://schemas.microsoft.com/office/drawing/2014/main" id="{D7F14E94-F607-172E-7284-CE98DF6B08DB}"/>
              </a:ext>
            </a:extLst>
          </p:cNvPr>
          <p:cNvSpPr/>
          <p:nvPr/>
        </p:nvSpPr>
        <p:spPr>
          <a:xfrm>
            <a:off x="6944872" y="2797739"/>
            <a:ext cx="4960995" cy="268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/>
              <a:t>在</a:t>
            </a:r>
            <a:r>
              <a:rPr lang="en-US" altLang="zh-CN" sz="1600"/>
              <a:t>JMeter </a:t>
            </a:r>
            <a:r>
              <a:rPr lang="zh-CN" altLang="en-US">
                <a:latin typeface="+mn-ea"/>
              </a:rPr>
              <a:t>发起</a:t>
            </a:r>
            <a:r>
              <a:rPr lang="zh-CN" altLang="en-US" sz="1600"/>
              <a:t> </a:t>
            </a:r>
            <a:r>
              <a:rPr lang="en-US" altLang="zh-CN" sz="1600"/>
              <a:t>10,000 </a:t>
            </a:r>
            <a:r>
              <a:rPr lang="zh-CN" altLang="en-US" sz="1600"/>
              <a:t>并发负载，物理丢包率从 </a:t>
            </a:r>
            <a:r>
              <a:rPr lang="en-US" altLang="zh-CN" sz="1600"/>
              <a:t>0% </a:t>
            </a:r>
            <a:r>
              <a:rPr lang="zh-CN" altLang="en-US" sz="1600"/>
              <a:t>阶梯递增至 </a:t>
            </a:r>
            <a:r>
              <a:rPr lang="en-US" altLang="zh-CN" sz="1600"/>
              <a:t>10% </a:t>
            </a:r>
            <a:r>
              <a:rPr lang="zh-CN" altLang="en-US" sz="1600"/>
              <a:t>，</a:t>
            </a:r>
            <a:r>
              <a:rPr lang="en-US" altLang="zh-CN" sz="1600"/>
              <a:t>Mosquitto </a:t>
            </a:r>
            <a:r>
              <a:rPr lang="zh-CN" altLang="en-US" sz="1600"/>
              <a:t>在丢包率达到 </a:t>
            </a:r>
            <a:r>
              <a:rPr lang="en-US" altLang="zh-CN" sz="1600"/>
              <a:t>2% </a:t>
            </a:r>
            <a:r>
              <a:rPr lang="zh-CN" altLang="en-US" sz="1600"/>
              <a:t>时 </a:t>
            </a:r>
            <a:r>
              <a:rPr lang="en-US" altLang="zh-CN" sz="1600"/>
              <a:t>TPS </a:t>
            </a:r>
            <a:r>
              <a:rPr lang="zh-CN" altLang="en-US" sz="1600"/>
              <a:t>骤降至 </a:t>
            </a:r>
            <a:r>
              <a:rPr lang="en-US" altLang="zh-CN" sz="1600">
                <a:solidFill>
                  <a:srgbClr val="FF0000"/>
                </a:solidFill>
              </a:rPr>
              <a:t>12,000</a:t>
            </a:r>
            <a:r>
              <a:rPr lang="en-US" altLang="zh-CN" sz="1600"/>
              <a:t> </a:t>
            </a:r>
            <a:r>
              <a:rPr lang="zh-CN" altLang="en-US" sz="1600"/>
              <a:t>左右，并随丢包率递增持续快速下滑，而本系统即使在丢包率达到</a:t>
            </a:r>
            <a:r>
              <a:rPr lang="en-US" altLang="zh-CN" sz="1600"/>
              <a:t>10%</a:t>
            </a:r>
            <a:r>
              <a:rPr lang="zh-CN" altLang="en-US" sz="1600"/>
              <a:t>时，亦能保持 </a:t>
            </a:r>
            <a:r>
              <a:rPr lang="en-US" altLang="zh-CN" sz="1600">
                <a:solidFill>
                  <a:srgbClr val="FF0000"/>
                </a:solidFill>
              </a:rPr>
              <a:t>15,000 </a:t>
            </a:r>
            <a:r>
              <a:rPr lang="en-US" altLang="zh-CN" sz="1600"/>
              <a:t>TPS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16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Roboto" panose="02000000000000000000" pitchFamily="2" charset="0"/>
                <a:cs typeface="Roboto" panose="02000000000000000000" pitchFamily="2" charset="0"/>
              </a:rPr>
              <a:t>本系统的吞吐量衰减率远低于 </a:t>
            </a:r>
            <a:r>
              <a:rPr lang="en-US" altLang="zh-CN" sz="1600">
                <a:latin typeface="Roboto" panose="02000000000000000000" pitchFamily="2" charset="0"/>
                <a:cs typeface="Roboto" panose="02000000000000000000" pitchFamily="2" charset="0"/>
              </a:rPr>
              <a:t>TCP </a:t>
            </a:r>
            <a:r>
              <a:rPr lang="zh-CN" altLang="en-US" sz="1600">
                <a:latin typeface="Roboto" panose="02000000000000000000" pitchFamily="2" charset="0"/>
                <a:cs typeface="Roboto" panose="02000000000000000000" pitchFamily="2" charset="0"/>
              </a:rPr>
              <a:t>方案，验证了本系统在弱网环境下对信道带宽的高效利用能力</a:t>
            </a:r>
          </a:p>
          <a:p>
            <a:pPr>
              <a:lnSpc>
                <a:spcPct val="150000"/>
              </a:lnSpc>
            </a:pPr>
            <a:endParaRPr lang="en-US" altLang="zh-CN" sz="165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18343BB-AACF-7BA0-310E-2CC5FAE9B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301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88893" y="260607"/>
            <a:ext cx="115824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5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总结与展望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25723" y="966026"/>
            <a:ext cx="10935970" cy="3716750"/>
            <a:chOff x="959" y="2159"/>
            <a:chExt cx="17280" cy="1896"/>
          </a:xfrm>
        </p:grpSpPr>
        <p:sp>
          <p:nvSpPr>
            <p:cNvPr id="4" name="任意多边形 3"/>
            <p:cNvSpPr/>
            <p:nvPr>
              <p:custDataLst>
                <p:tags r:id="rId9"/>
              </p:custDataLst>
            </p:nvPr>
          </p:nvSpPr>
          <p:spPr>
            <a:xfrm>
              <a:off x="959" y="2159"/>
              <a:ext cx="17280" cy="1896"/>
            </a:xfrm>
            <a:custGeom>
              <a:avLst/>
              <a:gdLst>
                <a:gd name="sw" fmla="*/ 1 w 17280"/>
                <a:gd name="sh" fmla="*/ 1 h 1895"/>
                <a:gd name="mins" fmla="min sw sh"/>
                <a:gd name="dsw" fmla="+- 0 sw mins"/>
                <a:gd name="dsh" fmla="+- 0 sh mins"/>
                <a:gd name="p0x0" fmla="*/ 0 w 17280"/>
                <a:gd name="p0y0" fmla="*/ 0 h 1895"/>
                <a:gd name="p0x1" fmla="*/ 17280 w 17280"/>
                <a:gd name="p0y1" fmla="*/ 0 h 1895"/>
                <a:gd name="p0x2" fmla="*/ 17280 w 17280"/>
                <a:gd name="p0y2" fmla="*/ 1895 h 1895"/>
                <a:gd name="p0x3" fmla="*/ 0 w 17280"/>
                <a:gd name="p0y3" fmla="*/ 1895 h 1895"/>
                <a:gd name="p0x4" fmla="*/ 0 w 17280"/>
                <a:gd name="p0y4" fmla="*/ 0 h 1895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10"/>
              </p:custDataLst>
            </p:nvPr>
          </p:nvSpPr>
          <p:spPr>
            <a:xfrm>
              <a:off x="959" y="2159"/>
              <a:ext cx="59" cy="1896"/>
            </a:xfrm>
            <a:custGeom>
              <a:avLst/>
              <a:gdLst>
                <a:gd name="sw" fmla="*/ 1 w 58"/>
                <a:gd name="sh" fmla="*/ 1 h 1895"/>
                <a:gd name="mins" fmla="min sw sh"/>
                <a:gd name="dsw" fmla="+- 0 sw mins"/>
                <a:gd name="dsh" fmla="+- 0 sh mins"/>
                <a:gd name="p0x0" fmla="*/ 0 w 58"/>
                <a:gd name="p0y0" fmla="*/ 1895 h 1895"/>
                <a:gd name="p0x1" fmla="*/ 0 w 58"/>
                <a:gd name="p0y1" fmla="*/ 0 h 1895"/>
                <a:gd name="p0x2" fmla="*/ 58 w 58"/>
                <a:gd name="p0y2" fmla="*/ 0 h 1895"/>
                <a:gd name="p0x3" fmla="*/ 58 w 58"/>
                <a:gd name="p0y3" fmla="*/ 1895 h 1895"/>
                <a:gd name="p0x4" fmla="*/ 0 w 58"/>
                <a:gd name="p0y4" fmla="*/ 1895 h 1895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77896" y="966026"/>
            <a:ext cx="12289226" cy="7674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【研究总结】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92225" y="1647051"/>
            <a:ext cx="10706297" cy="28422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传输层重构</a:t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基于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QUIC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多流映射彻底根除队头阻塞</a:t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基于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QUIC CID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机制实现连接无缝迁移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自适应保活</a:t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卡尔曼滤波平滑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RTT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抖动，动态阈值规避弱网误判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无锁并发架构</a:t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ETS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无锁路由表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+ Actor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模型，实现大规模会话高效管理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	</a:t>
            </a: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		</a:t>
            </a:r>
          </a:p>
          <a:p>
            <a:pPr algn="l">
              <a:lnSpc>
                <a:spcPct val="150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488893" y="4853947"/>
            <a:ext cx="109728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25722" y="5034643"/>
            <a:ext cx="10972800" cy="1663700"/>
            <a:chOff x="959" y="5030"/>
            <a:chExt cx="17280" cy="2620"/>
          </a:xfrm>
        </p:grpSpPr>
        <p:sp>
          <p:nvSpPr>
            <p:cNvPr id="10" name="任意多边形 9"/>
            <p:cNvSpPr/>
            <p:nvPr>
              <p:custDataLst>
                <p:tags r:id="rId7"/>
              </p:custDataLst>
            </p:nvPr>
          </p:nvSpPr>
          <p:spPr>
            <a:xfrm>
              <a:off x="959" y="5030"/>
              <a:ext cx="17280" cy="2621"/>
            </a:xfrm>
            <a:custGeom>
              <a:avLst/>
              <a:gdLst>
                <a:gd name="sw" fmla="*/ 1 w 17280"/>
                <a:gd name="sh" fmla="*/ 1 h 2621"/>
                <a:gd name="mins" fmla="min sw sh"/>
                <a:gd name="dsw" fmla="+- 0 sw mins"/>
                <a:gd name="dsh" fmla="+- 0 sh mins"/>
                <a:gd name="p0x0" fmla="*/ 0 w 17280"/>
                <a:gd name="p0y0" fmla="*/ 0 h 2621"/>
                <a:gd name="p0x1" fmla="*/ 17280 w 17280"/>
                <a:gd name="p0y1" fmla="*/ 0 h 2621"/>
                <a:gd name="p0x2" fmla="*/ 17280 w 17280"/>
                <a:gd name="p0y2" fmla="*/ 2621 h 2621"/>
                <a:gd name="p0x3" fmla="*/ 0 w 17280"/>
                <a:gd name="p0y3" fmla="*/ 2621 h 2621"/>
                <a:gd name="p0x4" fmla="*/ 0 w 17280"/>
                <a:gd name="p0y4" fmla="*/ 0 h 2621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959" y="5030"/>
              <a:ext cx="59" cy="2621"/>
            </a:xfrm>
            <a:custGeom>
              <a:avLst/>
              <a:gdLst>
                <a:gd name="sw" fmla="*/ 1 w 58"/>
                <a:gd name="sh" fmla="*/ 1 h 2621"/>
                <a:gd name="mins" fmla="min sw sh"/>
                <a:gd name="dsw" fmla="+- 0 sw mins"/>
                <a:gd name="dsh" fmla="+- 0 sh mins"/>
                <a:gd name="p0x0" fmla="*/ 0 w 58"/>
                <a:gd name="p0y0" fmla="*/ 2621 h 2621"/>
                <a:gd name="p0x1" fmla="*/ 0 w 58"/>
                <a:gd name="p0y1" fmla="*/ 0 h 2621"/>
                <a:gd name="p0x2" fmla="*/ 58 w 58"/>
                <a:gd name="p0y2" fmla="*/ 0 h 2621"/>
                <a:gd name="p0x3" fmla="*/ 58 w 58"/>
                <a:gd name="p0y3" fmla="*/ 2621 h 2621"/>
                <a:gd name="p0x4" fmla="*/ 0 w 58"/>
                <a:gd name="p0y4" fmla="*/ 2621 h 2621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677896" y="5215339"/>
            <a:ext cx="10478262" cy="2485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【未来改进】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792225" y="5777349"/>
            <a:ext cx="10592657" cy="660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666666"/>
              </a:buClr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引入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 eBPF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内核旁路技术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,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将加解密计算卸载至内核层以进一步降低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CPU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开销</a:t>
            </a:r>
          </a:p>
          <a:p>
            <a:pPr marL="342900" indent="-342900">
              <a:lnSpc>
                <a:spcPct val="150000"/>
              </a:lnSpc>
              <a:buClr>
                <a:srgbClr val="666666"/>
              </a:buClr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探索 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MP-QUIC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>多路径传输，聚合多网卡带宽，进一步提升吞吐与可靠性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E905789E-F9D8-438A-7D2A-9E32FF5666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0E323E29-D39C-7982-0677-05CB02AF086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35107" y="3018143"/>
            <a:ext cx="2321785" cy="5490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17000"/>
              </a:lnSpc>
            </a:pPr>
            <a:r>
              <a:rPr sz="4200" b="1">
                <a:latin typeface="黑体" panose="02010609060101010101" pitchFamily="49" charset="-122"/>
                <a:ea typeface="黑体" panose="02010609060101010101" pitchFamily="49" charset="-122"/>
              </a:rPr>
              <a:t>感谢聆听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996017B-F2CC-C6BF-993C-6533FE674B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45603" y="3919685"/>
            <a:ext cx="7957939" cy="17263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1800"/>
              </a:spcAft>
            </a:pPr>
            <a:r>
              <a:rPr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衷心感谢各位答辩老师在百忙之中参与本次毕业答辩，并对本研究给予宝贵的指导与建议。</a:t>
            </a:r>
          </a:p>
          <a:p>
            <a:pPr algn="ctr">
              <a:lnSpc>
                <a:spcPct val="150000"/>
              </a:lnSpc>
            </a:pPr>
            <a:r>
              <a:rPr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感谢指导老师在研究全程的悉心指引与耐心支持，感谢武汉大学计算机学院提供的学术和科研平台。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31E9A5FF-0314-1C0B-BBDD-C7644FC03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5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1338</Words>
  <Application>Microsoft Office PowerPoint</Application>
  <PresentationFormat>宽屏</PresentationFormat>
  <Paragraphs>143</Paragraphs>
  <Slides>17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SimHei</vt:lpstr>
      <vt:lpstr>SimHei</vt:lpstr>
      <vt:lpstr>SimSun</vt:lpstr>
      <vt:lpstr>SimSun</vt:lpstr>
      <vt:lpstr>Abadi</vt:lpstr>
      <vt:lpstr>Arial</vt:lpstr>
      <vt:lpstr>Arial Black</vt:lpstr>
      <vt:lpstr>Calibri</vt:lpstr>
      <vt:lpstr>Calibri Light</vt:lpstr>
      <vt:lpstr>Roboto</vt:lpstr>
      <vt:lpstr>Times New Roman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春乐 魏</cp:lastModifiedBy>
  <cp:revision>22</cp:revision>
  <dcterms:created xsi:type="dcterms:W3CDTF">2026-04-29T13:49:50Z</dcterms:created>
  <dcterms:modified xsi:type="dcterms:W3CDTF">2026-05-08T08:34:16Z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2052-11.1.0.11199</vt:lpwstr>
  </property>
  <property fmtid="{D5CDD505-2E9C-101B-9397-08002B2CF9AE}" pid="3" name="ICV">
    <vt:lpwstr/>
  </property>
</Properties>
</file>